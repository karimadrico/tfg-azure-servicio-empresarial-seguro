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Story points cerrados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Sprint 1</c:v>
                </c:pt>
                <c:pt idx="1">
                  <c:v>Sprint 2</c:v>
                </c:pt>
                <c:pt idx="2">
                  <c:v>Sprint 3</c:v>
                </c:pt>
                <c:pt idx="3">
                  <c:v>Sprint 4</c:v>
                </c:pt>
                <c:pt idx="4">
                  <c:v>Sprint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31</c:v>
                </c:pt>
                <c:pt idx="2">
                  <c:v>5</c:v>
                </c:pt>
                <c:pt idx="3">
                  <c:v>34</c:v>
                </c:pt>
                <c:pt idx="4">
                  <c:v>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rtel-a3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80467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Servicio empresarial seguro en Microsoft 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51760"/>
            <a:ext cx="7132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0">
                <a:solidFill>
                  <a:srgbClr val="E2E8F0"/>
                </a:solidFill>
              </a:rPr>
              <a:t>TFG · Grado en Ingeniería Informática</a:t>
            </a:r>
            <a:br/>
            <a:r>
              <a:rPr sz="2300" b="0">
                <a:solidFill>
                  <a:srgbClr val="E2E8F0"/>
                </a:solidFill>
              </a:rPr>
              <a:t>Karima Drafli Rico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Problema y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Automatización segura de solicitudes TI en un entorno 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566928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334155"/>
                </a:solidFill>
              </a:rPr>
              <a:t>• La gestión manual dispersa dificulta trazabilidad, seguridad y priorización.</a:t>
            </a:r>
          </a:p>
          <a:p>
            <a:r>
              <a:rPr sz="2200">
                <a:solidFill>
                  <a:srgbClr val="334155"/>
                </a:solidFill>
              </a:rPr>
              <a:t>• El prototipo centraliza solicitudes, clasificación, aprobación y seguimiento.</a:t>
            </a:r>
          </a:p>
          <a:p>
            <a:r>
              <a:rPr sz="2200">
                <a:solidFill>
                  <a:srgbClr val="334155"/>
                </a:solidFill>
              </a:rPr>
              <a:t>• La solución se valida en Azure con una instancia real accesible para el tribunal.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600200"/>
            <a:ext cx="365760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5472" y="1737360"/>
            <a:ext cx="33284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9496"/>
                </a:solidFill>
              </a:rPr>
              <a:t>Resultado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5472" y="2103120"/>
            <a:ext cx="3328416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Portal, API, Cosmos DB, Key Vault, Logic App, observabilidad y calidad continua integrados en un flujo empresarial.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Arquitectura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Vista integral del sistema desplegado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quitectura_integral_tfg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111556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Persistencia con Cosmos 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Mejora final frente al blob JSON inicial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32004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1691639"/>
            <a:ext cx="28712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78D4"/>
                </a:solidFill>
              </a:rPr>
              <a:t>Por qué se incorporó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1" y="2057400"/>
            <a:ext cx="2871216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El blob único era suficiente para el prototipo inicial, pero limitaba concurrencia, consulta y crecimiento.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554480"/>
            <a:ext cx="32004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691639"/>
            <a:ext cx="28712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9496"/>
                </a:solidFill>
              </a:rPr>
              <a:t>Cómo se migró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057400"/>
            <a:ext cx="2871216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Se creó Cosmos DB Free Tier, se migraron 20 solicitudes y App Service quedó con STORAGE_MODE=cosmos.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554480"/>
            <a:ext cx="320040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691639"/>
            <a:ext cx="28712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28B53"/>
                </a:solidFill>
              </a:rPr>
              <a:t>Qué mejora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057400"/>
            <a:ext cx="2871216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Cada solicitud se almacena como documento independiente en tfg-solicitudes/solicitudes.</a:t>
            </a:r>
          </a:p>
        </p:txBody>
      </p:sp>
      <p:pic>
        <p:nvPicPr>
          <p:cNvPr id="14" name="Picture 13" descr="base_de_datos_azure_cosmos_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4160520"/>
            <a:ext cx="10058400" cy="1508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Producto entregado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Funcionalidades demostrables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100584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>
                <a:solidFill>
                  <a:srgbClr val="334155"/>
                </a:solidFill>
              </a:rPr>
              <a:t>• Alta de solicitudes TI desde portal web y desde Logic App.</a:t>
            </a:r>
          </a:p>
          <a:p>
            <a:r>
              <a:rPr sz="2200">
                <a:solidFill>
                  <a:srgbClr val="334155"/>
                </a:solidFill>
              </a:rPr>
              <a:t>• Clasificación automática de prioridad, categoría, SLA y responsable.</a:t>
            </a:r>
          </a:p>
          <a:p>
            <a:r>
              <a:rPr sz="2200">
                <a:solidFill>
                  <a:srgbClr val="334155"/>
                </a:solidFill>
              </a:rPr>
              <a:t>• Bandeja de gestión protegida con filtros, detalle y cambios de estado.</a:t>
            </a:r>
          </a:p>
          <a:p>
            <a:r>
              <a:rPr sz="2200">
                <a:solidFill>
                  <a:srgbClr val="334155"/>
                </a:solidFill>
              </a:rPr>
              <a:t>• Catálogo de servicios y activos para contextualizar impacto.</a:t>
            </a:r>
          </a:p>
          <a:p>
            <a:r>
              <a:rPr sz="2200">
                <a:solidFill>
                  <a:srgbClr val="334155"/>
                </a:solidFill>
              </a:rPr>
              <a:t>• Exportación CSV, métricas operativas, health check y OpenAPI.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Seguridad y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Separación entre acceso, secretos y persistencia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737360"/>
            <a:ext cx="28254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78D4"/>
                </a:solidFill>
              </a:rPr>
              <a:t>Autenticación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03120"/>
            <a:ext cx="28254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Los endpoints operativos requieren Bearer token. La clave se custodia en Key Vault.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45152" y="1737360"/>
            <a:ext cx="28254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9496"/>
                </a:solidFill>
              </a:rPr>
              <a:t>Identidad administrada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5152" y="2103120"/>
            <a:ext cx="28254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App Service accede a secretos sin credenciales cloud embebidas en el código.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600200"/>
            <a:ext cx="3154680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737360"/>
            <a:ext cx="28254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28B53"/>
                </a:solidFill>
              </a:rPr>
              <a:t>Cosmos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2103120"/>
            <a:ext cx="2825496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El portal y la Logic App no acceden directamente a la base de datos; toda la lógica pasa por la API.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Proceso de desarrollo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Cinco sprints cerrados y trazabilidad en Zube/GitHub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00200"/>
          <a:ext cx="69494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321040" y="1737360"/>
            <a:ext cx="256032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85632" y="1874519"/>
            <a:ext cx="22311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9496"/>
                </a:solidFill>
              </a:rPr>
              <a:t>Seguimiento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85632" y="2240280"/>
            <a:ext cx="2231136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Zube recoge sprints, HU, prioridades y story points. GitHub aporta commits y releases.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Calidad y validación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Pruebas, SonarCloud y despliegue verificado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37360"/>
            <a:ext cx="2596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28B53"/>
                </a:solidFill>
              </a:rPr>
              <a:t>Pruebas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03120"/>
            <a:ext cx="2596896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27 pruebas automáticas cubren API, validación, clasificación, storage local y backend Cosmos simulado.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2" y="1737360"/>
            <a:ext cx="2596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78D4"/>
                </a:solidFill>
              </a:rPr>
              <a:t>SonarCloud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2" y="2103120"/>
            <a:ext cx="2596896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Quality Gate aprobado en el análisis final del 30 de junio.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600200"/>
            <a:ext cx="292608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2E1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37360"/>
            <a:ext cx="25968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49496"/>
                </a:solidFill>
              </a:rPr>
              <a:t>Azure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85632" y="2103120"/>
            <a:ext cx="2596896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34155"/>
                </a:solidFill>
              </a:rPr>
              <a:t>/health confirma storage_mode=cosmos y los endpoints responden en la nube.</a:t>
            </a:r>
          </a:p>
        </p:txBody>
      </p:sp>
      <p:pic>
        <p:nvPicPr>
          <p:cNvPr id="14" name="Picture 13" descr="sonarcloud-quality-gate-final-30jun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206240"/>
            <a:ext cx="6858000" cy="1417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Costes y buenas prácticas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Alcance académico con recursos controlados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fico_costes_estim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1097280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0040"/>
            <a:ext cx="10058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0F2F4A"/>
                </a:solidFill>
              </a:rPr>
              <a:t>Demostración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41248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0">
                <a:solidFill>
                  <a:srgbClr val="334155"/>
                </a:solidFill>
              </a:rPr>
              <a:t>Recorrido para defensa y vídeo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07008"/>
            <a:ext cx="11064240" cy="2743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1024128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>
                <a:solidFill>
                  <a:srgbClr val="334155"/>
                </a:solidFill>
              </a:rPr>
              <a:t>• Abrir el portal desplegado y crear una solicitud.</a:t>
            </a:r>
          </a:p>
          <a:p>
            <a:r>
              <a:rPr sz="2300">
                <a:solidFill>
                  <a:srgbClr val="334155"/>
                </a:solidFill>
              </a:rPr>
              <a:t>• Mostrar clasificación, SLA, responsable e historial generado.</a:t>
            </a:r>
          </a:p>
          <a:p>
            <a:r>
              <a:rPr sz="2300">
                <a:solidFill>
                  <a:srgbClr val="334155"/>
                </a:solidFill>
              </a:rPr>
              <a:t>• Mostrar Logic App como entrada automática desde otro sistema.</a:t>
            </a:r>
          </a:p>
          <a:p>
            <a:r>
              <a:rPr sz="2300">
                <a:solidFill>
                  <a:srgbClr val="334155"/>
                </a:solidFill>
              </a:rPr>
              <a:t>• Comprobar /health con STORAGE_MODE=cosmos y la evidencia en Cosmos DB.</a:t>
            </a:r>
          </a:p>
          <a:p>
            <a:r>
              <a:rPr sz="2300">
                <a:solidFill>
                  <a:srgbClr val="334155"/>
                </a:solidFill>
              </a:rPr>
              <a:t>• Cerrar con SonarCloud, Zube y releases como evidencias de proceso.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4748B"/>
                </a:solidFill>
              </a:rPr>
              <a:t>Cloud Computing: servicio empresarial seguro en Microsoft Azure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510528"/>
            <a:ext cx="457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