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gpZT1iKMgUM88dIWOzHrCXjTv2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87110" y="667525"/>
            <a:ext cx="65838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lnSpcReduction="1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Cloud Computing: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87102" y="1275575"/>
            <a:ext cx="5780100" cy="13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 lnSpcReduction="1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Análisis, Diseño y Despliegue de un Servicio Empresarial Seguro en Microsoft Azure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87099" y="2880350"/>
            <a:ext cx="6043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Grado en Ingeniería Informática Online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09751" y="3200450"/>
            <a:ext cx="5595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Tutor: José Ignacio Santos Martín · Curso 2025-2026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621792" y="3730752"/>
            <a:ext cx="132588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694944" y="3785615"/>
            <a:ext cx="117957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Microsoft Azure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2084831" y="3730752"/>
            <a:ext cx="960120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2157984" y="3785615"/>
            <a:ext cx="8138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Flask API</a:t>
            </a:r>
            <a:endParaRPr/>
          </a:p>
        </p:txBody>
      </p:sp>
      <p:sp>
        <p:nvSpPr>
          <p:cNvPr id="94" name="Google Shape;94;p1"/>
          <p:cNvSpPr/>
          <p:nvPr/>
        </p:nvSpPr>
        <p:spPr>
          <a:xfrm>
            <a:off x="3182112" y="3730752"/>
            <a:ext cx="1078992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3255264" y="3785615"/>
            <a:ext cx="932688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Logic Apps</a:t>
            </a:r>
            <a:endParaRPr/>
          </a:p>
        </p:txBody>
      </p:sp>
      <p:sp>
        <p:nvSpPr>
          <p:cNvPr id="96" name="Google Shape;96;p1"/>
          <p:cNvSpPr/>
          <p:nvPr/>
        </p:nvSpPr>
        <p:spPr>
          <a:xfrm>
            <a:off x="4407408" y="3730752"/>
            <a:ext cx="1234440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4480560" y="3785615"/>
            <a:ext cx="108813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SonarCloud</a:t>
            </a:r>
            <a:endParaRPr/>
          </a:p>
        </p:txBody>
      </p:sp>
      <p:sp>
        <p:nvSpPr>
          <p:cNvPr id="98" name="Google Shape;98;p1"/>
          <p:cNvSpPr/>
          <p:nvPr/>
        </p:nvSpPr>
        <p:spPr>
          <a:xfrm>
            <a:off x="5745425" y="502925"/>
            <a:ext cx="6446400" cy="562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artel-a3-final.png" id="99" name="Google Shape;9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88150" y="1261825"/>
            <a:ext cx="6403526" cy="438988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101" name="Google Shape;101;p1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Problema: solicitudes TI dispersas y poco trazables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685800" y="1828800"/>
            <a:ext cx="25146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32104" y="1975104"/>
            <a:ext cx="141732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05256" y="2029968"/>
            <a:ext cx="12710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Canales dispersos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850400" y="2395723"/>
            <a:ext cx="21489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Correo, mensajes y formularios aislados impiden ver una cola común de trabajo.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3520440" y="1828800"/>
            <a:ext cx="25146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3666744" y="1975104"/>
            <a:ext cx="1417320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3739896" y="2029968"/>
            <a:ext cx="12710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Prioridad manual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3685032" y="2395728"/>
            <a:ext cx="2148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Cada petición se interpreta de forma distinta; falta impacto, criticidad y SLA.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685800" y="3886200"/>
            <a:ext cx="25146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832104" y="4032504"/>
            <a:ext cx="1417320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905256" y="4087368"/>
            <a:ext cx="12710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Trazabilidad débil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850400" y="4453124"/>
            <a:ext cx="2148900" cy="65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No siempre queda claro quién aprobó, escaló, resolvió o modificó una solicitud.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3520440" y="3886200"/>
            <a:ext cx="2514600" cy="1325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3666744" y="4032504"/>
            <a:ext cx="1417320" cy="310896"/>
          </a:xfrm>
          <a:prstGeom prst="roundRect">
            <a:avLst>
              <a:gd fmla="val 16667" name="adj"/>
            </a:avLst>
          </a:prstGeom>
          <a:solidFill>
            <a:srgbClr val="D24343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3739896" y="4087368"/>
            <a:ext cx="12710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Riesgo operativo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3685025" y="4453124"/>
            <a:ext cx="2148900" cy="658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Las credenciales, evidencias y datos de empleados necesitan controles claros.</a:t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6629400" y="1783080"/>
            <a:ext cx="4526280" cy="3611880"/>
          </a:xfrm>
          <a:prstGeom prst="roundRect">
            <a:avLst>
              <a:gd fmla="val 16667" name="adj"/>
            </a:avLst>
          </a:prstGeom>
          <a:solidFill>
            <a:srgbClr val="E3F0FF"/>
          </a:solidFill>
          <a:ln cap="flat" cmpd="sng" w="9525">
            <a:solidFill>
              <a:srgbClr val="ACCF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67728" y="21488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Hipótesis del TFG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6967725" y="2697473"/>
            <a:ext cx="3657600" cy="17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775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Un proceso único, desplegado en Azure y apoyado en servicios gestionados, puede convertir solicitudes dispersas en trabajo priorizado, seguro y medible.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6967728" y="448056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El objetivo no es replicar una suite ITSM comercial, sino demostrar una solución cloud empresarial de extremo a extremo.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3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502925" y="658380"/>
            <a:ext cx="10881300" cy="11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Solución: plataforma cloud de automatización de solicitudes TI</a:t>
            </a:r>
            <a:endParaRPr/>
          </a:p>
        </p:txBody>
      </p:sp>
      <p:sp>
        <p:nvSpPr>
          <p:cNvPr id="141" name="Google Shape;141;p3"/>
          <p:cNvSpPr/>
          <p:nvPr/>
        </p:nvSpPr>
        <p:spPr>
          <a:xfrm>
            <a:off x="517995" y="1767120"/>
            <a:ext cx="11155800" cy="2280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621792" y="1993392"/>
            <a:ext cx="2084831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768096" y="2212848"/>
            <a:ext cx="82296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 txBox="1"/>
          <p:nvPr/>
        </p:nvSpPr>
        <p:spPr>
          <a:xfrm>
            <a:off x="841248" y="2267712"/>
            <a:ext cx="6766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Paso 1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768096" y="27432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Entrada</a:t>
            </a:r>
            <a:endParaRPr/>
          </a:p>
        </p:txBody>
      </p:sp>
      <p:sp>
        <p:nvSpPr>
          <p:cNvPr id="146" name="Google Shape;146;p3"/>
          <p:cNvSpPr txBox="1"/>
          <p:nvPr/>
        </p:nvSpPr>
        <p:spPr>
          <a:xfrm>
            <a:off x="768096" y="3154680"/>
            <a:ext cx="1664208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2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Portal web o Logic App</a:t>
            </a:r>
            <a:endParaRPr/>
          </a:p>
        </p:txBody>
      </p:sp>
      <p:sp>
        <p:nvSpPr>
          <p:cNvPr id="147" name="Google Shape;147;p3"/>
          <p:cNvSpPr/>
          <p:nvPr/>
        </p:nvSpPr>
        <p:spPr>
          <a:xfrm>
            <a:off x="2880360" y="1993392"/>
            <a:ext cx="2084831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3026664" y="2212848"/>
            <a:ext cx="822960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 txBox="1"/>
          <p:nvPr/>
        </p:nvSpPr>
        <p:spPr>
          <a:xfrm>
            <a:off x="3099816" y="2267712"/>
            <a:ext cx="6766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Paso 2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3026664" y="27432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endParaRPr/>
          </a:p>
        </p:txBody>
      </p:sp>
      <p:sp>
        <p:nvSpPr>
          <p:cNvPr id="151" name="Google Shape;151;p3"/>
          <p:cNvSpPr txBox="1"/>
          <p:nvPr/>
        </p:nvSpPr>
        <p:spPr>
          <a:xfrm>
            <a:off x="3026664" y="3154680"/>
            <a:ext cx="1664208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2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Catálogo de servicios y activos</a:t>
            </a:r>
            <a:endParaRPr/>
          </a:p>
        </p:txBody>
      </p:sp>
      <p:sp>
        <p:nvSpPr>
          <p:cNvPr id="152" name="Google Shape;152;p3"/>
          <p:cNvSpPr/>
          <p:nvPr/>
        </p:nvSpPr>
        <p:spPr>
          <a:xfrm>
            <a:off x="5138928" y="1993392"/>
            <a:ext cx="2084831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5285232" y="2212848"/>
            <a:ext cx="822960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 txBox="1"/>
          <p:nvPr/>
        </p:nvSpPr>
        <p:spPr>
          <a:xfrm>
            <a:off x="5358384" y="2267712"/>
            <a:ext cx="6766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Paso 3</a:t>
            </a:r>
            <a:endParaRPr/>
          </a:p>
        </p:txBody>
      </p:sp>
      <p:sp>
        <p:nvSpPr>
          <p:cNvPr id="155" name="Google Shape;155;p3"/>
          <p:cNvSpPr txBox="1"/>
          <p:nvPr/>
        </p:nvSpPr>
        <p:spPr>
          <a:xfrm>
            <a:off x="5285232" y="27432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Clasificación</a:t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5285232" y="3154680"/>
            <a:ext cx="1664208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2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Reglas </a:t>
            </a:r>
            <a:r>
              <a:rPr lang="en-US" sz="1320">
                <a:solidFill>
                  <a:srgbClr val="525B6B"/>
                </a:solidFill>
              </a:rPr>
              <a:t>aplicables</a:t>
            </a:r>
            <a:r>
              <a:rPr b="0" lang="en-US" sz="132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 de prioridad e impacto</a:t>
            </a:r>
            <a:endParaRPr/>
          </a:p>
        </p:txBody>
      </p:sp>
      <p:sp>
        <p:nvSpPr>
          <p:cNvPr id="157" name="Google Shape;157;p3"/>
          <p:cNvSpPr/>
          <p:nvPr/>
        </p:nvSpPr>
        <p:spPr>
          <a:xfrm>
            <a:off x="7397496" y="1993392"/>
            <a:ext cx="2084831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7543800" y="2212848"/>
            <a:ext cx="822960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7616952" y="2267712"/>
            <a:ext cx="6766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Paso 4</a:t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7543800" y="27432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  <a:endParaRPr/>
          </a:p>
        </p:txBody>
      </p:sp>
      <p:sp>
        <p:nvSpPr>
          <p:cNvPr id="161" name="Google Shape;161;p3"/>
          <p:cNvSpPr txBox="1"/>
          <p:nvPr/>
        </p:nvSpPr>
        <p:spPr>
          <a:xfrm>
            <a:off x="7543800" y="3154680"/>
            <a:ext cx="1664208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2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Aprobación, escalado, estado y SLA</a:t>
            </a:r>
            <a:endParaRPr/>
          </a:p>
        </p:txBody>
      </p:sp>
      <p:sp>
        <p:nvSpPr>
          <p:cNvPr id="162" name="Google Shape;162;p3"/>
          <p:cNvSpPr/>
          <p:nvPr/>
        </p:nvSpPr>
        <p:spPr>
          <a:xfrm>
            <a:off x="9656064" y="1993392"/>
            <a:ext cx="2084831" cy="2331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9802368" y="2212848"/>
            <a:ext cx="82296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 txBox="1"/>
          <p:nvPr/>
        </p:nvSpPr>
        <p:spPr>
          <a:xfrm>
            <a:off x="9875520" y="2267712"/>
            <a:ext cx="67665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Paso 5</a:t>
            </a:r>
            <a:endParaRPr/>
          </a:p>
        </p:txBody>
      </p:sp>
      <p:sp>
        <p:nvSpPr>
          <p:cNvPr id="165" name="Google Shape;165;p3"/>
          <p:cNvSpPr txBox="1"/>
          <p:nvPr/>
        </p:nvSpPr>
        <p:spPr>
          <a:xfrm>
            <a:off x="9802368" y="27432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Evidencia</a:t>
            </a:r>
            <a:endParaRPr/>
          </a:p>
        </p:txBody>
      </p:sp>
      <p:sp>
        <p:nvSpPr>
          <p:cNvPr id="166" name="Google Shape;166;p3"/>
          <p:cNvSpPr txBox="1"/>
          <p:nvPr/>
        </p:nvSpPr>
        <p:spPr>
          <a:xfrm>
            <a:off x="9802368" y="3154680"/>
            <a:ext cx="1664208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2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Historial, métricas, CSV y satisfacción</a:t>
            </a:r>
            <a:endParaRPr/>
          </a:p>
        </p:txBody>
      </p:sp>
      <p:sp>
        <p:nvSpPr>
          <p:cNvPr id="167" name="Google Shape;167;p3"/>
          <p:cNvSpPr/>
          <p:nvPr/>
        </p:nvSpPr>
        <p:spPr>
          <a:xfrm>
            <a:off x="713232" y="4892040"/>
            <a:ext cx="10698480" cy="731520"/>
          </a:xfrm>
          <a:prstGeom prst="roundRect">
            <a:avLst>
              <a:gd fmla="val 16667" name="adj"/>
            </a:avLst>
          </a:prstGeom>
          <a:solidFill>
            <a:srgbClr val="E3F0FF"/>
          </a:solidFill>
          <a:ln cap="flat" cmpd="sng" w="9525">
            <a:solidFill>
              <a:srgbClr val="ACCF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 txBox="1"/>
          <p:nvPr/>
        </p:nvSpPr>
        <p:spPr>
          <a:xfrm>
            <a:off x="914400" y="5093195"/>
            <a:ext cx="102414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850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La API centraliza reglas, persistencia y seguridad. El portal y la Logic App son canales de entrada: no duplican lógica de negocio.</a:t>
            </a:r>
            <a:endParaRPr/>
          </a:p>
        </p:txBody>
      </p:sp>
      <p:sp>
        <p:nvSpPr>
          <p:cNvPr id="169" name="Google Shape;169;p3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170" name="Google Shape;170;p3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178" name="Google Shape;178;p4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Arquitectura desplegada en Microsoft Azure</a:t>
            </a:r>
            <a:endParaRPr/>
          </a:p>
        </p:txBody>
      </p:sp>
      <p:sp>
        <p:nvSpPr>
          <p:cNvPr id="179" name="Google Shape;179;p4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quitectura_final_azure.png" id="180" name="Google Shape;18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700" y="2146637"/>
            <a:ext cx="12036127" cy="2983023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4"/>
          <p:cNvSpPr txBox="1"/>
          <p:nvPr/>
        </p:nvSpPr>
        <p:spPr>
          <a:xfrm>
            <a:off x="594350" y="5479943"/>
            <a:ext cx="10789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App Service · API Flask · Blob Storage · Key Vault · Managed Identity · Logic App · Application Insights · Azure Monitor</a:t>
            </a:r>
            <a:endParaRPr/>
          </a:p>
        </p:txBody>
      </p:sp>
      <p:sp>
        <p:nvSpPr>
          <p:cNvPr id="182" name="Google Shape;182;p4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183" name="Google Shape;183;p4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Funcionalidad empresarial implementada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640075" y="1783074"/>
            <a:ext cx="5898000" cy="4605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ortal-operaciones-satisfaccion.png" id="194" name="Google Shape;19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2925" y="1783075"/>
            <a:ext cx="4665400" cy="46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5"/>
          <p:cNvSpPr/>
          <p:nvPr/>
        </p:nvSpPr>
        <p:spPr>
          <a:xfrm>
            <a:off x="6720840" y="1783080"/>
            <a:ext cx="4389120" cy="78638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6903720" y="1938528"/>
            <a:ext cx="109728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6976872" y="1993392"/>
            <a:ext cx="95097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Catálogo</a:t>
            </a:r>
            <a:endParaRPr/>
          </a:p>
        </p:txBody>
      </p:sp>
      <p:sp>
        <p:nvSpPr>
          <p:cNvPr id="198" name="Google Shape;198;p5"/>
          <p:cNvSpPr txBox="1"/>
          <p:nvPr/>
        </p:nvSpPr>
        <p:spPr>
          <a:xfrm>
            <a:off x="8183879" y="1956816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Servicios, activos, entornos y criticidad</a:t>
            </a:r>
            <a:endParaRPr/>
          </a:p>
        </p:txBody>
      </p:sp>
      <p:sp>
        <p:nvSpPr>
          <p:cNvPr id="199" name="Google Shape;199;p5"/>
          <p:cNvSpPr/>
          <p:nvPr/>
        </p:nvSpPr>
        <p:spPr>
          <a:xfrm>
            <a:off x="6720840" y="2743200"/>
            <a:ext cx="4389120" cy="78638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6903720" y="2898648"/>
            <a:ext cx="1097280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6976872" y="2953512"/>
            <a:ext cx="95097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Flujo</a:t>
            </a:r>
            <a:endParaRPr/>
          </a:p>
        </p:txBody>
      </p:sp>
      <p:sp>
        <p:nvSpPr>
          <p:cNvPr id="202" name="Google Shape;202;p5"/>
          <p:cNvSpPr txBox="1"/>
          <p:nvPr/>
        </p:nvSpPr>
        <p:spPr>
          <a:xfrm>
            <a:off x="8183879" y="2916936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Aprobación, escalado, cierre e historial</a:t>
            </a:r>
            <a:endParaRPr/>
          </a:p>
        </p:txBody>
      </p:sp>
      <p:sp>
        <p:nvSpPr>
          <p:cNvPr id="203" name="Google Shape;203;p5"/>
          <p:cNvSpPr/>
          <p:nvPr/>
        </p:nvSpPr>
        <p:spPr>
          <a:xfrm>
            <a:off x="6720840" y="3703320"/>
            <a:ext cx="4389120" cy="78638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6903720" y="3858768"/>
            <a:ext cx="1097280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6976872" y="3913631"/>
            <a:ext cx="95097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Operación</a:t>
            </a:r>
            <a:endParaRPr/>
          </a:p>
        </p:txBody>
      </p:sp>
      <p:sp>
        <p:nvSpPr>
          <p:cNvPr id="206" name="Google Shape;206;p5"/>
          <p:cNvSpPr txBox="1"/>
          <p:nvPr/>
        </p:nvSpPr>
        <p:spPr>
          <a:xfrm>
            <a:off x="8183879" y="3877056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SLA vencido, carga, métricas y CSV</a:t>
            </a: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6720840" y="4663440"/>
            <a:ext cx="4389120" cy="78638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6903720" y="4818888"/>
            <a:ext cx="1097280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6976875" y="4873749"/>
            <a:ext cx="95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85000" lnSpcReduction="20000"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Calidad percibida</a:t>
            </a:r>
            <a:endParaRPr/>
          </a:p>
        </p:txBody>
      </p:sp>
      <p:sp>
        <p:nvSpPr>
          <p:cNvPr id="210" name="Google Shape;210;p5"/>
          <p:cNvSpPr txBox="1"/>
          <p:nvPr/>
        </p:nvSpPr>
        <p:spPr>
          <a:xfrm>
            <a:off x="8183879" y="4837176"/>
            <a:ext cx="26974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Valoración final y satisfacción media</a:t>
            </a:r>
            <a:endParaRPr/>
          </a:p>
        </p:txBody>
      </p:sp>
      <p:sp>
        <p:nvSpPr>
          <p:cNvPr id="211" name="Google Shape;211;p5"/>
          <p:cNvSpPr txBox="1"/>
          <p:nvPr/>
        </p:nvSpPr>
        <p:spPr>
          <a:xfrm>
            <a:off x="6812280" y="5486400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El resultado se puede demostrar desde navegador: no depende de una maqueta estática.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213" name="Google Shape;213;p5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221" name="Google Shape;221;p6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Seguridad y diseño de datos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640080" y="1783080"/>
            <a:ext cx="224028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 txBox="1"/>
          <p:nvPr/>
        </p:nvSpPr>
        <p:spPr>
          <a:xfrm>
            <a:off x="786384" y="1901952"/>
            <a:ext cx="19476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Key Vault</a:t>
            </a:r>
            <a:endParaRPr/>
          </a:p>
        </p:txBody>
      </p:sp>
      <p:sp>
        <p:nvSpPr>
          <p:cNvPr id="225" name="Google Shape;225;p6"/>
          <p:cNvSpPr txBox="1"/>
          <p:nvPr/>
        </p:nvSpPr>
        <p:spPr>
          <a:xfrm>
            <a:off x="786384" y="2386584"/>
            <a:ext cx="19476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Secreto api-key fuera del repositorio</a:t>
            </a:r>
            <a:endParaRPr/>
          </a:p>
        </p:txBody>
      </p:sp>
      <p:sp>
        <p:nvSpPr>
          <p:cNvPr id="226" name="Google Shape;226;p6"/>
          <p:cNvSpPr/>
          <p:nvPr/>
        </p:nvSpPr>
        <p:spPr>
          <a:xfrm>
            <a:off x="3154680" y="1783080"/>
            <a:ext cx="274320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3300975" y="1901949"/>
            <a:ext cx="24507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775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Managed Identity</a:t>
            </a:r>
            <a:endParaRPr/>
          </a:p>
        </p:txBody>
      </p:sp>
      <p:sp>
        <p:nvSpPr>
          <p:cNvPr id="228" name="Google Shape;228;p6"/>
          <p:cNvSpPr txBox="1"/>
          <p:nvPr/>
        </p:nvSpPr>
        <p:spPr>
          <a:xfrm>
            <a:off x="3300984" y="2386584"/>
            <a:ext cx="245059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Acceso a secretos sin credenciales cloud en código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172200" y="1783080"/>
            <a:ext cx="246888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 txBox="1"/>
          <p:nvPr/>
        </p:nvSpPr>
        <p:spPr>
          <a:xfrm>
            <a:off x="6318504" y="1901952"/>
            <a:ext cx="21762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F27E38"/>
                </a:solidFill>
                <a:latin typeface="Arial"/>
                <a:ea typeface="Arial"/>
                <a:cs typeface="Arial"/>
                <a:sym typeface="Arial"/>
              </a:rPr>
              <a:t>Bearer token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6318504" y="2386584"/>
            <a:ext cx="217627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Bandeja TI, métricas, CSV y demo protegidos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8915400" y="1783080"/>
            <a:ext cx="2331720" cy="1060704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 txBox="1"/>
          <p:nvPr/>
        </p:nvSpPr>
        <p:spPr>
          <a:xfrm>
            <a:off x="9061704" y="1901952"/>
            <a:ext cx="20391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6F42C1"/>
                </a:solidFill>
                <a:latin typeface="Arial"/>
                <a:ea typeface="Arial"/>
                <a:cs typeface="Arial"/>
                <a:sym typeface="Arial"/>
              </a:rPr>
              <a:t>HTTPS</a:t>
            </a:r>
            <a:endParaRPr/>
          </a:p>
        </p:txBody>
      </p:sp>
      <p:sp>
        <p:nvSpPr>
          <p:cNvPr id="234" name="Google Shape;234;p6"/>
          <p:cNvSpPr txBox="1"/>
          <p:nvPr/>
        </p:nvSpPr>
        <p:spPr>
          <a:xfrm>
            <a:off x="9061704" y="2386584"/>
            <a:ext cx="20391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Comunicación pública cifrada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685800" y="3337560"/>
            <a:ext cx="5074920" cy="1783080"/>
          </a:xfrm>
          <a:prstGeom prst="roundRect">
            <a:avLst>
              <a:gd fmla="val 16667" name="adj"/>
            </a:avLst>
          </a:prstGeom>
          <a:solidFill>
            <a:srgbClr val="E3F0FF"/>
          </a:solidFill>
          <a:ln cap="flat" cmpd="sng" w="9525">
            <a:solidFill>
              <a:srgbClr val="ACCF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 txBox="1"/>
          <p:nvPr/>
        </p:nvSpPr>
        <p:spPr>
          <a:xfrm>
            <a:off x="960125" y="3566145"/>
            <a:ext cx="23775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Modelo documental</a:t>
            </a:r>
            <a:endParaRPr/>
          </a:p>
        </p:txBody>
      </p:sp>
      <p:sp>
        <p:nvSpPr>
          <p:cNvPr id="237" name="Google Shape;237;p6"/>
          <p:cNvSpPr txBox="1"/>
          <p:nvPr/>
        </p:nvSpPr>
        <p:spPr>
          <a:xfrm>
            <a:off x="960120" y="4005072"/>
            <a:ext cx="4434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Cada solicitud es JSON semiestructurado con identificador, contexto, estado, SLA, aprobación, escalado, valoración e historial 1..N.</a:t>
            </a:r>
            <a:endParaRPr/>
          </a:p>
        </p:txBody>
      </p:sp>
      <p:sp>
        <p:nvSpPr>
          <p:cNvPr id="238" name="Google Shape;238;p6"/>
          <p:cNvSpPr/>
          <p:nvPr/>
        </p:nvSpPr>
        <p:spPr>
          <a:xfrm>
            <a:off x="6080760" y="3337560"/>
            <a:ext cx="5166360" cy="1783080"/>
          </a:xfrm>
          <a:prstGeom prst="roundRect">
            <a:avLst>
              <a:gd fmla="val 16667" name="adj"/>
            </a:avLst>
          </a:prstGeom>
          <a:solidFill>
            <a:srgbClr val="FFF4E9"/>
          </a:solidFill>
          <a:ln cap="flat" cmpd="sng" w="9525">
            <a:solidFill>
              <a:srgbClr val="F6CDA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 txBox="1"/>
          <p:nvPr/>
        </p:nvSpPr>
        <p:spPr>
          <a:xfrm>
            <a:off x="6355080" y="356616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27E38"/>
                </a:solidFill>
                <a:latin typeface="Arial"/>
                <a:ea typeface="Arial"/>
                <a:cs typeface="Arial"/>
                <a:sym typeface="Arial"/>
              </a:rPr>
              <a:t>Límite reconocido</a:t>
            </a:r>
            <a:endParaRPr/>
          </a:p>
        </p:txBody>
      </p:sp>
      <p:sp>
        <p:nvSpPr>
          <p:cNvPr id="240" name="Google Shape;240;p6"/>
          <p:cNvSpPr txBox="1"/>
          <p:nvPr/>
        </p:nvSpPr>
        <p:spPr>
          <a:xfrm>
            <a:off x="6355080" y="4005072"/>
            <a:ext cx="4526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5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El prototipo usa un único blob JSON. En producción evolucionaría a ETag/If-Match o a una base de datos transaccional para concurrencia real.</a:t>
            </a:r>
            <a:endParaRPr/>
          </a:p>
        </p:txBody>
      </p:sp>
      <p:sp>
        <p:nvSpPr>
          <p:cNvPr id="241" name="Google Shape;241;p6"/>
          <p:cNvSpPr txBox="1"/>
          <p:nvPr/>
        </p:nvSpPr>
        <p:spPr>
          <a:xfrm>
            <a:off x="914400" y="55321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Portal y Logic App nunca acceden directamente al almacenamiento: toda modificación pasa por la API.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251" name="Google Shape;251;p7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Proceso: planificación, código y calidad</a:t>
            </a:r>
            <a:endParaRPr/>
          </a:p>
        </p:txBody>
      </p:sp>
      <p:sp>
        <p:nvSpPr>
          <p:cNvPr id="252" name="Google Shape;252;p7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640075" y="1783074"/>
            <a:ext cx="5577900" cy="4574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zube_sprints_final_132_storypoints.png" id="254" name="Google Shape;25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025" y="1783075"/>
            <a:ext cx="4798576" cy="4574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7"/>
          <p:cNvSpPr/>
          <p:nvPr/>
        </p:nvSpPr>
        <p:spPr>
          <a:xfrm>
            <a:off x="6629400" y="1783080"/>
            <a:ext cx="214884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 txBox="1"/>
          <p:nvPr/>
        </p:nvSpPr>
        <p:spPr>
          <a:xfrm>
            <a:off x="6775704" y="1901952"/>
            <a:ext cx="1856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57" name="Google Shape;257;p7"/>
          <p:cNvSpPr txBox="1"/>
          <p:nvPr/>
        </p:nvSpPr>
        <p:spPr>
          <a:xfrm>
            <a:off x="6775704" y="2386584"/>
            <a:ext cx="185623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sprints cerrados en Zube</a:t>
            </a:r>
            <a:endParaRPr/>
          </a:p>
        </p:txBody>
      </p:sp>
      <p:sp>
        <p:nvSpPr>
          <p:cNvPr id="258" name="Google Shape;258;p7"/>
          <p:cNvSpPr/>
          <p:nvPr/>
        </p:nvSpPr>
        <p:spPr>
          <a:xfrm>
            <a:off x="9189720" y="1783080"/>
            <a:ext cx="214884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 txBox="1"/>
          <p:nvPr/>
        </p:nvSpPr>
        <p:spPr>
          <a:xfrm>
            <a:off x="9336024" y="1901952"/>
            <a:ext cx="1856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F27E38"/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  <a:endParaRPr/>
          </a:p>
        </p:txBody>
      </p:sp>
      <p:sp>
        <p:nvSpPr>
          <p:cNvPr id="260" name="Google Shape;260;p7"/>
          <p:cNvSpPr txBox="1"/>
          <p:nvPr/>
        </p:nvSpPr>
        <p:spPr>
          <a:xfrm>
            <a:off x="9336024" y="2386584"/>
            <a:ext cx="185623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puntos estimados de backlog</a:t>
            </a:r>
            <a:endParaRPr/>
          </a:p>
        </p:txBody>
      </p:sp>
      <p:sp>
        <p:nvSpPr>
          <p:cNvPr id="261" name="Google Shape;261;p7"/>
          <p:cNvSpPr/>
          <p:nvPr/>
        </p:nvSpPr>
        <p:spPr>
          <a:xfrm>
            <a:off x="6629400" y="3154680"/>
            <a:ext cx="214884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6775704" y="3273552"/>
            <a:ext cx="1856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  <a:endParaRPr/>
          </a:p>
        </p:txBody>
      </p:sp>
      <p:sp>
        <p:nvSpPr>
          <p:cNvPr id="263" name="Google Shape;263;p7"/>
          <p:cNvSpPr txBox="1"/>
          <p:nvPr/>
        </p:nvSpPr>
        <p:spPr>
          <a:xfrm>
            <a:off x="6775704" y="3758184"/>
            <a:ext cx="185623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puntos cerrados registrados</a:t>
            </a:r>
            <a:endParaRPr/>
          </a:p>
        </p:txBody>
      </p:sp>
      <p:sp>
        <p:nvSpPr>
          <p:cNvPr id="264" name="Google Shape;264;p7"/>
          <p:cNvSpPr/>
          <p:nvPr/>
        </p:nvSpPr>
        <p:spPr>
          <a:xfrm>
            <a:off x="9189720" y="3154680"/>
            <a:ext cx="214884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 txBox="1"/>
          <p:nvPr/>
        </p:nvSpPr>
        <p:spPr>
          <a:xfrm>
            <a:off x="9336024" y="3273552"/>
            <a:ext cx="1856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6F42C1"/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  <a:endParaRPr/>
          </a:p>
        </p:txBody>
      </p:sp>
      <p:sp>
        <p:nvSpPr>
          <p:cNvPr id="266" name="Google Shape;266;p7"/>
          <p:cNvSpPr txBox="1"/>
          <p:nvPr/>
        </p:nvSpPr>
        <p:spPr>
          <a:xfrm>
            <a:off x="9336024" y="3758184"/>
            <a:ext cx="185623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commits en main</a:t>
            </a:r>
            <a:endParaRPr/>
          </a:p>
        </p:txBody>
      </p:sp>
      <p:sp>
        <p:nvSpPr>
          <p:cNvPr id="267" name="Google Shape;267;p7"/>
          <p:cNvSpPr/>
          <p:nvPr/>
        </p:nvSpPr>
        <p:spPr>
          <a:xfrm>
            <a:off x="6629400" y="4681728"/>
            <a:ext cx="4663440" cy="749808"/>
          </a:xfrm>
          <a:prstGeom prst="roundRect">
            <a:avLst>
              <a:gd fmla="val 16667" name="adj"/>
            </a:avLst>
          </a:prstGeom>
          <a:solidFill>
            <a:srgbClr val="F3F7FC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7"/>
          <p:cNvSpPr txBox="1"/>
          <p:nvPr/>
        </p:nvSpPr>
        <p:spPr>
          <a:xfrm>
            <a:off x="6839700" y="4864593"/>
            <a:ext cx="42978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El Sprint 3 conserva 18 puntos retirados por replanificación. La evolución se acredita con Zube, commits, releases y evidencias.</a:t>
            </a:r>
            <a:endParaRPr/>
          </a:p>
        </p:txBody>
      </p:sp>
      <p:sp>
        <p:nvSpPr>
          <p:cNvPr id="269" name="Google Shape;269;p7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270" name="Google Shape;270;p7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278" name="Google Shape;278;p8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Validación técnica</a:t>
            </a:r>
            <a:endParaRPr/>
          </a:p>
        </p:txBody>
      </p:sp>
      <p:sp>
        <p:nvSpPr>
          <p:cNvPr id="279" name="Google Shape;279;p8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640075" y="1828800"/>
            <a:ext cx="5212200" cy="4528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onarcloud-quality-gate-final-23junio.png" id="281" name="Google Shape;2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9325" y="1828800"/>
            <a:ext cx="4179724" cy="4528801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8"/>
          <p:cNvSpPr/>
          <p:nvPr/>
        </p:nvSpPr>
        <p:spPr>
          <a:xfrm>
            <a:off x="6263640" y="1828800"/>
            <a:ext cx="256032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 txBox="1"/>
          <p:nvPr/>
        </p:nvSpPr>
        <p:spPr>
          <a:xfrm>
            <a:off x="6409944" y="1947672"/>
            <a:ext cx="22677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26/26</a:t>
            </a:r>
            <a:endParaRPr/>
          </a:p>
        </p:txBody>
      </p:sp>
      <p:sp>
        <p:nvSpPr>
          <p:cNvPr id="284" name="Google Shape;284;p8"/>
          <p:cNvSpPr txBox="1"/>
          <p:nvPr/>
        </p:nvSpPr>
        <p:spPr>
          <a:xfrm>
            <a:off x="6409944" y="2432304"/>
            <a:ext cx="22677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pruebas automáticas superadas</a:t>
            </a:r>
            <a:endParaRPr/>
          </a:p>
        </p:txBody>
      </p:sp>
      <p:sp>
        <p:nvSpPr>
          <p:cNvPr id="285" name="Google Shape;285;p8"/>
          <p:cNvSpPr/>
          <p:nvPr/>
        </p:nvSpPr>
        <p:spPr>
          <a:xfrm>
            <a:off x="9144000" y="1828800"/>
            <a:ext cx="2194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 txBox="1"/>
          <p:nvPr/>
        </p:nvSpPr>
        <p:spPr>
          <a:xfrm>
            <a:off x="9290304" y="1947672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OK</a:t>
            </a:r>
            <a:endParaRPr/>
          </a:p>
        </p:txBody>
      </p:sp>
      <p:sp>
        <p:nvSpPr>
          <p:cNvPr id="287" name="Google Shape;287;p8"/>
          <p:cNvSpPr txBox="1"/>
          <p:nvPr/>
        </p:nvSpPr>
        <p:spPr>
          <a:xfrm>
            <a:off x="9290304" y="2432304"/>
            <a:ext cx="19019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Quality Gate SonarCloud</a:t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263640" y="3200400"/>
            <a:ext cx="256032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6409944" y="3319272"/>
            <a:ext cx="22677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290" name="Google Shape;290;p8"/>
          <p:cNvSpPr txBox="1"/>
          <p:nvPr/>
        </p:nvSpPr>
        <p:spPr>
          <a:xfrm>
            <a:off x="6409944" y="3803904"/>
            <a:ext cx="226771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issues abiertos actuales</a:t>
            </a:r>
            <a:endParaRPr/>
          </a:p>
        </p:txBody>
      </p:sp>
      <p:sp>
        <p:nvSpPr>
          <p:cNvPr id="291" name="Google Shape;291;p8"/>
          <p:cNvSpPr/>
          <p:nvPr/>
        </p:nvSpPr>
        <p:spPr>
          <a:xfrm>
            <a:off x="9144000" y="3200400"/>
            <a:ext cx="2194560" cy="1078992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C6D6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9290304" y="3319272"/>
            <a:ext cx="190195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0.0%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9290304" y="3803904"/>
            <a:ext cx="1901952" cy="40233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duplicación en nuevo código</a:t>
            </a:r>
            <a:endParaRPr/>
          </a:p>
        </p:txBody>
      </p:sp>
      <p:sp>
        <p:nvSpPr>
          <p:cNvPr id="294" name="Google Shape;294;p8"/>
          <p:cNvSpPr/>
          <p:nvPr/>
        </p:nvSpPr>
        <p:spPr>
          <a:xfrm>
            <a:off x="6263640" y="4645152"/>
            <a:ext cx="5074920" cy="777240"/>
          </a:xfrm>
          <a:prstGeom prst="roundRect">
            <a:avLst>
              <a:gd fmla="val 16667" name="adj"/>
            </a:avLst>
          </a:prstGeom>
          <a:solidFill>
            <a:srgbClr val="E3F0FF"/>
          </a:solidFill>
          <a:ln cap="flat" cmpd="sng" w="9525">
            <a:solidFill>
              <a:srgbClr val="ACCF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 txBox="1"/>
          <p:nvPr/>
        </p:nvSpPr>
        <p:spPr>
          <a:xfrm>
            <a:off x="6446525" y="4846330"/>
            <a:ext cx="46818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925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/health responde estado ok y storage_mode azure. Las operaciones protegidas requieren token Bearer entregado fuera del repositorio.</a:t>
            </a:r>
            <a:endParaRPr/>
          </a:p>
        </p:txBody>
      </p:sp>
      <p:sp>
        <p:nvSpPr>
          <p:cNvPr id="296" name="Google Shape;296;p8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297" name="Google Shape;297;p8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305" name="Google Shape;305;p9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Recorrido recomendado para la demostración</a:t>
            </a:r>
            <a:endParaRPr/>
          </a:p>
        </p:txBody>
      </p:sp>
      <p:sp>
        <p:nvSpPr>
          <p:cNvPr id="306" name="Google Shape;306;p9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685800" y="178308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832104" y="192938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 txBox="1"/>
          <p:nvPr/>
        </p:nvSpPr>
        <p:spPr>
          <a:xfrm>
            <a:off x="905256" y="198424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310" name="Google Shape;310;p9"/>
          <p:cNvSpPr txBox="1"/>
          <p:nvPr/>
        </p:nvSpPr>
        <p:spPr>
          <a:xfrm>
            <a:off x="1344168" y="192938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/health</a:t>
            </a:r>
            <a:endParaRPr/>
          </a:p>
        </p:txBody>
      </p:sp>
      <p:sp>
        <p:nvSpPr>
          <p:cNvPr id="311" name="Google Shape;311;p9"/>
          <p:cNvSpPr txBox="1"/>
          <p:nvPr/>
        </p:nvSpPr>
        <p:spPr>
          <a:xfrm>
            <a:off x="1344168" y="2267712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Estado ok y Azure Storage</a:t>
            </a:r>
            <a:endParaRPr/>
          </a:p>
        </p:txBody>
      </p:sp>
      <p:sp>
        <p:nvSpPr>
          <p:cNvPr id="312" name="Google Shape;312;p9"/>
          <p:cNvSpPr/>
          <p:nvPr/>
        </p:nvSpPr>
        <p:spPr>
          <a:xfrm>
            <a:off x="4251960" y="178308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398264" y="192938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4471416" y="198424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315" name="Google Shape;315;p9"/>
          <p:cNvSpPr txBox="1"/>
          <p:nvPr/>
        </p:nvSpPr>
        <p:spPr>
          <a:xfrm>
            <a:off x="4910328" y="192938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Solicitud sensible</a:t>
            </a:r>
            <a:endParaRPr/>
          </a:p>
        </p:txBody>
      </p:sp>
      <p:sp>
        <p:nvSpPr>
          <p:cNvPr id="316" name="Google Shape;316;p9"/>
          <p:cNvSpPr txBox="1"/>
          <p:nvPr/>
        </p:nvSpPr>
        <p:spPr>
          <a:xfrm>
            <a:off x="4910328" y="2267712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Catálogo, impacto y SLA</a:t>
            </a: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7818120" y="178308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7964424" y="192938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 txBox="1"/>
          <p:nvPr/>
        </p:nvSpPr>
        <p:spPr>
          <a:xfrm>
            <a:off x="8037576" y="198424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20" name="Google Shape;320;p9"/>
          <p:cNvSpPr txBox="1"/>
          <p:nvPr/>
        </p:nvSpPr>
        <p:spPr>
          <a:xfrm>
            <a:off x="8476488" y="192938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Bandeja TI</a:t>
            </a:r>
            <a:endParaRPr/>
          </a:p>
        </p:txBody>
      </p:sp>
      <p:sp>
        <p:nvSpPr>
          <p:cNvPr id="321" name="Google Shape;321;p9"/>
          <p:cNvSpPr txBox="1"/>
          <p:nvPr/>
        </p:nvSpPr>
        <p:spPr>
          <a:xfrm>
            <a:off x="8476488" y="2267712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Token Key Vault y filtros</a:t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685800" y="333756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832104" y="348386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 txBox="1"/>
          <p:nvPr/>
        </p:nvSpPr>
        <p:spPr>
          <a:xfrm>
            <a:off x="905256" y="353872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325" name="Google Shape;325;p9"/>
          <p:cNvSpPr txBox="1"/>
          <p:nvPr/>
        </p:nvSpPr>
        <p:spPr>
          <a:xfrm>
            <a:off x="1344168" y="348386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  <a:endParaRPr/>
          </a:p>
        </p:txBody>
      </p:sp>
      <p:sp>
        <p:nvSpPr>
          <p:cNvPr id="326" name="Google Shape;326;p9"/>
          <p:cNvSpPr txBox="1"/>
          <p:nvPr/>
        </p:nvSpPr>
        <p:spPr>
          <a:xfrm>
            <a:off x="1344168" y="3822191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Actor, motivo e historial</a:t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4251960" y="333756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4398264" y="348386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 txBox="1"/>
          <p:nvPr/>
        </p:nvSpPr>
        <p:spPr>
          <a:xfrm>
            <a:off x="4471416" y="353872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330" name="Google Shape;330;p9"/>
          <p:cNvSpPr txBox="1"/>
          <p:nvPr/>
        </p:nvSpPr>
        <p:spPr>
          <a:xfrm>
            <a:off x="4910328" y="348386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Centro operativo</a:t>
            </a:r>
            <a:endParaRPr/>
          </a:p>
        </p:txBody>
      </p:sp>
      <p:sp>
        <p:nvSpPr>
          <p:cNvPr id="331" name="Google Shape;331;p9"/>
          <p:cNvSpPr txBox="1"/>
          <p:nvPr/>
        </p:nvSpPr>
        <p:spPr>
          <a:xfrm>
            <a:off x="4910328" y="3822191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SLA, CSV y satisfacción</a:t>
            </a:r>
            <a:endParaRPr/>
          </a:p>
        </p:txBody>
      </p:sp>
      <p:sp>
        <p:nvSpPr>
          <p:cNvPr id="332" name="Google Shape;332;p9"/>
          <p:cNvSpPr/>
          <p:nvPr/>
        </p:nvSpPr>
        <p:spPr>
          <a:xfrm>
            <a:off x="7818120" y="333756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7964424" y="348386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 txBox="1"/>
          <p:nvPr/>
        </p:nvSpPr>
        <p:spPr>
          <a:xfrm>
            <a:off x="8037576" y="3538728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335" name="Google Shape;335;p9"/>
          <p:cNvSpPr txBox="1"/>
          <p:nvPr/>
        </p:nvSpPr>
        <p:spPr>
          <a:xfrm>
            <a:off x="8476488" y="348386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Logic App</a:t>
            </a:r>
            <a:endParaRPr/>
          </a:p>
        </p:txBody>
      </p:sp>
      <p:sp>
        <p:nvSpPr>
          <p:cNvPr id="336" name="Google Shape;336;p9"/>
          <p:cNvSpPr txBox="1"/>
          <p:nvPr/>
        </p:nvSpPr>
        <p:spPr>
          <a:xfrm>
            <a:off x="8476488" y="3822191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Entrada automática externa</a:t>
            </a: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4251960" y="4892040"/>
            <a:ext cx="2880360" cy="1051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4398264" y="5038344"/>
            <a:ext cx="384048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 txBox="1"/>
          <p:nvPr/>
        </p:nvSpPr>
        <p:spPr>
          <a:xfrm>
            <a:off x="4471416" y="5093207"/>
            <a:ext cx="237744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340" name="Google Shape;340;p9"/>
          <p:cNvSpPr txBox="1"/>
          <p:nvPr/>
        </p:nvSpPr>
        <p:spPr>
          <a:xfrm>
            <a:off x="4910328" y="503834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  <a:endParaRPr/>
          </a:p>
        </p:txBody>
      </p:sp>
      <p:sp>
        <p:nvSpPr>
          <p:cNvPr id="341" name="Google Shape;341;p9"/>
          <p:cNvSpPr txBox="1"/>
          <p:nvPr/>
        </p:nvSpPr>
        <p:spPr>
          <a:xfrm>
            <a:off x="4910328" y="5376672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SonarCloud, Zube y release</a:t>
            </a:r>
            <a:endParaRPr/>
          </a:p>
        </p:txBody>
      </p:sp>
      <p:sp>
        <p:nvSpPr>
          <p:cNvPr id="342" name="Google Shape;342;p9"/>
          <p:cNvSpPr/>
          <p:nvPr/>
        </p:nvSpPr>
        <p:spPr>
          <a:xfrm>
            <a:off x="868680" y="5989320"/>
            <a:ext cx="10424160" cy="347472"/>
          </a:xfrm>
          <a:prstGeom prst="roundRect">
            <a:avLst>
              <a:gd fmla="val 16667" name="adj"/>
            </a:avLst>
          </a:prstGeom>
          <a:solidFill>
            <a:srgbClr val="FFF4E9"/>
          </a:solidFill>
          <a:ln cap="flat" cmpd="sng" w="9525">
            <a:solidFill>
              <a:srgbClr val="F6CDA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 txBox="1"/>
          <p:nvPr/>
        </p:nvSpPr>
        <p:spPr>
          <a:xfrm>
            <a:off x="1051550" y="6062478"/>
            <a:ext cx="10012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 fontScale="85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27E38"/>
                </a:solidFill>
                <a:latin typeface="Arial"/>
                <a:ea typeface="Arial"/>
                <a:cs typeface="Arial"/>
                <a:sym typeface="Arial"/>
              </a:rPr>
              <a:t>Mensaje clave: solución cloud segura, no solo gestor de tickets. No mostrar tokens, URLs firmadas ni valores completos de secretos.</a:t>
            </a:r>
            <a:endParaRPr/>
          </a:p>
        </p:txBody>
      </p:sp>
      <p:sp>
        <p:nvSpPr>
          <p:cNvPr id="344" name="Google Shape;344;p9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345" name="Google Shape;345;p9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353" name="Google Shape;353;p10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Conclusiones y evolución futura</a:t>
            </a:r>
            <a:endParaRPr/>
          </a:p>
        </p:txBody>
      </p:sp>
      <p:sp>
        <p:nvSpPr>
          <p:cNvPr id="354" name="Google Shape;354;p10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685800" y="1691640"/>
            <a:ext cx="653796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868680" y="1847088"/>
            <a:ext cx="1188720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 txBox="1"/>
          <p:nvPr/>
        </p:nvSpPr>
        <p:spPr>
          <a:xfrm>
            <a:off x="941832" y="1901952"/>
            <a:ext cx="10424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Cumplido</a:t>
            </a:r>
            <a:endParaRPr/>
          </a:p>
        </p:txBody>
      </p:sp>
      <p:sp>
        <p:nvSpPr>
          <p:cNvPr id="358" name="Google Shape;358;p10"/>
          <p:cNvSpPr txBox="1"/>
          <p:nvPr/>
        </p:nvSpPr>
        <p:spPr>
          <a:xfrm>
            <a:off x="2331720" y="184708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Prototipo funcional desplegado y evaluable desde navegador</a:t>
            </a:r>
            <a:endParaRPr/>
          </a:p>
        </p:txBody>
      </p:sp>
      <p:sp>
        <p:nvSpPr>
          <p:cNvPr id="359" name="Google Shape;359;p10"/>
          <p:cNvSpPr/>
          <p:nvPr/>
        </p:nvSpPr>
        <p:spPr>
          <a:xfrm>
            <a:off x="685800" y="2514600"/>
            <a:ext cx="653796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868680" y="2670048"/>
            <a:ext cx="118872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 txBox="1"/>
          <p:nvPr/>
        </p:nvSpPr>
        <p:spPr>
          <a:xfrm>
            <a:off x="941832" y="2724912"/>
            <a:ext cx="10424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Automatización</a:t>
            </a:r>
            <a:endParaRPr/>
          </a:p>
        </p:txBody>
      </p:sp>
      <p:sp>
        <p:nvSpPr>
          <p:cNvPr id="362" name="Google Shape;362;p10"/>
          <p:cNvSpPr txBox="1"/>
          <p:nvPr/>
        </p:nvSpPr>
        <p:spPr>
          <a:xfrm>
            <a:off x="2331720" y="267004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Portal + Logic App + aprobación + SLA</a:t>
            </a: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685800" y="3337560"/>
            <a:ext cx="653796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868680" y="3493008"/>
            <a:ext cx="1188720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 txBox="1"/>
          <p:nvPr/>
        </p:nvSpPr>
        <p:spPr>
          <a:xfrm>
            <a:off x="941832" y="3547872"/>
            <a:ext cx="10424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Seguridad</a:t>
            </a:r>
            <a:endParaRPr/>
          </a:p>
        </p:txBody>
      </p:sp>
      <p:sp>
        <p:nvSpPr>
          <p:cNvPr id="366" name="Google Shape;366;p10"/>
          <p:cNvSpPr txBox="1"/>
          <p:nvPr/>
        </p:nvSpPr>
        <p:spPr>
          <a:xfrm>
            <a:off x="2331720" y="34930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Key Vault, Managed Identity, HTTPS y Bearer token</a:t>
            </a:r>
            <a:endParaRPr/>
          </a:p>
        </p:txBody>
      </p:sp>
      <p:sp>
        <p:nvSpPr>
          <p:cNvPr id="367" name="Google Shape;367;p10"/>
          <p:cNvSpPr/>
          <p:nvPr/>
        </p:nvSpPr>
        <p:spPr>
          <a:xfrm>
            <a:off x="685800" y="4160520"/>
            <a:ext cx="653796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868680" y="4315968"/>
            <a:ext cx="1188720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 txBox="1"/>
          <p:nvPr/>
        </p:nvSpPr>
        <p:spPr>
          <a:xfrm>
            <a:off x="941832" y="4370831"/>
            <a:ext cx="10424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Calidad</a:t>
            </a:r>
            <a:endParaRPr/>
          </a:p>
        </p:txBody>
      </p:sp>
      <p:sp>
        <p:nvSpPr>
          <p:cNvPr id="370" name="Google Shape;370;p10"/>
          <p:cNvSpPr txBox="1"/>
          <p:nvPr/>
        </p:nvSpPr>
        <p:spPr>
          <a:xfrm>
            <a:off x="2331720" y="431596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Pruebas, SonarCloud, evidencias y LaTeX</a:t>
            </a:r>
            <a:endParaRPr/>
          </a:p>
        </p:txBody>
      </p:sp>
      <p:sp>
        <p:nvSpPr>
          <p:cNvPr id="371" name="Google Shape;371;p10"/>
          <p:cNvSpPr/>
          <p:nvPr/>
        </p:nvSpPr>
        <p:spPr>
          <a:xfrm>
            <a:off x="685800" y="4983480"/>
            <a:ext cx="6537960" cy="65836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868680" y="5138928"/>
            <a:ext cx="118872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0"/>
          <p:cNvSpPr txBox="1"/>
          <p:nvPr/>
        </p:nvSpPr>
        <p:spPr>
          <a:xfrm>
            <a:off x="941832" y="5193792"/>
            <a:ext cx="10424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Evolución</a:t>
            </a:r>
            <a:endParaRPr/>
          </a:p>
        </p:txBody>
      </p:sp>
      <p:sp>
        <p:nvSpPr>
          <p:cNvPr id="374" name="Google Shape;374;p10"/>
          <p:cNvSpPr txBox="1"/>
          <p:nvPr/>
        </p:nvSpPr>
        <p:spPr>
          <a:xfrm>
            <a:off x="2331720" y="513892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Entra ID, concurrencia, BD transaccional y notificaciones</a:t>
            </a:r>
            <a:endParaRPr/>
          </a:p>
        </p:txBody>
      </p:sp>
      <p:sp>
        <p:nvSpPr>
          <p:cNvPr id="376" name="Google Shape;376;p10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377" name="Google Shape;377;p10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pic>
        <p:nvPicPr>
          <p:cNvPr id="378" name="Picture 377" descr="arquitectura_integral_tfg_az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633472"/>
            <a:ext cx="4389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0" y="146304"/>
            <a:ext cx="12191695" cy="32004"/>
          </a:xfrm>
          <a:prstGeom prst="rect">
            <a:avLst/>
          </a:prstGeom>
          <a:solidFill>
            <a:srgbClr val="24C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 txBox="1"/>
          <p:nvPr/>
        </p:nvSpPr>
        <p:spPr>
          <a:xfrm>
            <a:off x="502920" y="320040"/>
            <a:ext cx="8046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TFG · SERVICIO EMPRESARIAL SEGURO EN AZURE</a:t>
            </a:r>
            <a:endParaRPr/>
          </a:p>
        </p:txBody>
      </p:sp>
      <p:sp>
        <p:nvSpPr>
          <p:cNvPr id="385" name="Google Shape;385;p11"/>
          <p:cNvSpPr txBox="1"/>
          <p:nvPr/>
        </p:nvSpPr>
        <p:spPr>
          <a:xfrm>
            <a:off x="502920" y="658368"/>
            <a:ext cx="108813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02140"/>
                </a:solidFill>
                <a:latin typeface="Arial"/>
                <a:ea typeface="Arial"/>
                <a:cs typeface="Arial"/>
                <a:sym typeface="Arial"/>
              </a:rPr>
              <a:t>Preguntas previsibles</a:t>
            </a:r>
            <a:endParaRPr/>
          </a:p>
        </p:txBody>
      </p:sp>
      <p:sp>
        <p:nvSpPr>
          <p:cNvPr id="386" name="Google Shape;386;p11"/>
          <p:cNvSpPr/>
          <p:nvPr/>
        </p:nvSpPr>
        <p:spPr>
          <a:xfrm>
            <a:off x="502920" y="1417320"/>
            <a:ext cx="11155680" cy="22860"/>
          </a:xfrm>
          <a:prstGeom prst="rect">
            <a:avLst/>
          </a:prstGeom>
          <a:solidFill>
            <a:srgbClr val="DAE1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/>
          <p:nvPr/>
        </p:nvSpPr>
        <p:spPr>
          <a:xfrm>
            <a:off x="777240" y="1691640"/>
            <a:ext cx="10378440" cy="777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987552" y="1847088"/>
            <a:ext cx="502920" cy="310896"/>
          </a:xfrm>
          <a:prstGeom prst="roundRect">
            <a:avLst>
              <a:gd fmla="val 16667" name="adj"/>
            </a:avLst>
          </a:prstGeom>
          <a:solidFill>
            <a:srgbClr val="0078D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 txBox="1"/>
          <p:nvPr/>
        </p:nvSpPr>
        <p:spPr>
          <a:xfrm>
            <a:off x="1060704" y="1901952"/>
            <a:ext cx="3566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P1</a:t>
            </a:r>
            <a:endParaRPr/>
          </a:p>
        </p:txBody>
      </p:sp>
      <p:sp>
        <p:nvSpPr>
          <p:cNvPr id="390" name="Google Shape;390;p11"/>
          <p:cNvSpPr txBox="1"/>
          <p:nvPr/>
        </p:nvSpPr>
        <p:spPr>
          <a:xfrm>
            <a:off x="1664208" y="1810512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¿Por qué Flask y no Django?</a:t>
            </a:r>
            <a:endParaRPr/>
          </a:p>
        </p:txBody>
      </p:sp>
      <p:sp>
        <p:nvSpPr>
          <p:cNvPr id="391" name="Google Shape;391;p11"/>
          <p:cNvSpPr txBox="1"/>
          <p:nvPr/>
        </p:nvSpPr>
        <p:spPr>
          <a:xfrm>
            <a:off x="4983480" y="1810512"/>
            <a:ext cx="5806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API ligera y portal compacto; no se necesitaba ORM ni panel administrativo completo.</a:t>
            </a:r>
            <a:endParaRPr/>
          </a:p>
        </p:txBody>
      </p:sp>
      <p:sp>
        <p:nvSpPr>
          <p:cNvPr id="392" name="Google Shape;392;p11"/>
          <p:cNvSpPr/>
          <p:nvPr/>
        </p:nvSpPr>
        <p:spPr>
          <a:xfrm>
            <a:off x="777240" y="2651760"/>
            <a:ext cx="10378440" cy="777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/>
          <p:nvPr/>
        </p:nvSpPr>
        <p:spPr>
          <a:xfrm>
            <a:off x="987552" y="2807208"/>
            <a:ext cx="502920" cy="310896"/>
          </a:xfrm>
          <a:prstGeom prst="roundRect">
            <a:avLst>
              <a:gd fmla="val 16667" name="adj"/>
            </a:avLst>
          </a:prstGeom>
          <a:solidFill>
            <a:srgbClr val="1F8F5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 txBox="1"/>
          <p:nvPr/>
        </p:nvSpPr>
        <p:spPr>
          <a:xfrm>
            <a:off x="1060704" y="2862072"/>
            <a:ext cx="3566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P2</a:t>
            </a:r>
            <a:endParaRPr/>
          </a:p>
        </p:txBody>
      </p:sp>
      <p:sp>
        <p:nvSpPr>
          <p:cNvPr id="395" name="Google Shape;395;p11"/>
          <p:cNvSpPr txBox="1"/>
          <p:nvPr/>
        </p:nvSpPr>
        <p:spPr>
          <a:xfrm>
            <a:off x="1664208" y="2770632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1F8F5B"/>
                </a:solidFill>
                <a:latin typeface="Arial"/>
                <a:ea typeface="Arial"/>
                <a:cs typeface="Arial"/>
                <a:sym typeface="Arial"/>
              </a:rPr>
              <a:t>¿Por qué un único blob JSON?</a:t>
            </a:r>
            <a:endParaRPr/>
          </a:p>
        </p:txBody>
      </p:sp>
      <p:sp>
        <p:nvSpPr>
          <p:cNvPr id="396" name="Google Shape;396;p11"/>
          <p:cNvSpPr txBox="1"/>
          <p:nvPr/>
        </p:nvSpPr>
        <p:spPr>
          <a:xfrm>
            <a:off x="4983480" y="2770632"/>
            <a:ext cx="5806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Suficiente para prototipo; producción requeriría ETag o base de datos transaccional.</a:t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777240" y="3611880"/>
            <a:ext cx="10378440" cy="777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987552" y="3767328"/>
            <a:ext cx="502920" cy="310896"/>
          </a:xfrm>
          <a:prstGeom prst="roundRect">
            <a:avLst>
              <a:gd fmla="val 16667" name="adj"/>
            </a:avLst>
          </a:prstGeom>
          <a:solidFill>
            <a:srgbClr val="F27E3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 txBox="1"/>
          <p:nvPr/>
        </p:nvSpPr>
        <p:spPr>
          <a:xfrm>
            <a:off x="1060704" y="3822191"/>
            <a:ext cx="3566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P3</a:t>
            </a:r>
            <a:endParaRPr/>
          </a:p>
        </p:txBody>
      </p:sp>
      <p:sp>
        <p:nvSpPr>
          <p:cNvPr id="400" name="Google Shape;400;p11"/>
          <p:cNvSpPr txBox="1"/>
          <p:nvPr/>
        </p:nvSpPr>
        <p:spPr>
          <a:xfrm>
            <a:off x="1664208" y="3730752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F27E38"/>
                </a:solidFill>
                <a:latin typeface="Arial"/>
                <a:ea typeface="Arial"/>
                <a:cs typeface="Arial"/>
                <a:sym typeface="Arial"/>
              </a:rPr>
              <a:t>¿Es IA avanzada?</a:t>
            </a:r>
            <a:endParaRPr/>
          </a:p>
        </p:txBody>
      </p:sp>
      <p:sp>
        <p:nvSpPr>
          <p:cNvPr id="401" name="Google Shape;401;p11"/>
          <p:cNvSpPr txBox="1"/>
          <p:nvPr/>
        </p:nvSpPr>
        <p:spPr>
          <a:xfrm>
            <a:off x="4983480" y="3730752"/>
            <a:ext cx="5806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No. Es clasificación ligera y explicable basada en reglas de negocio.</a:t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777240" y="4572000"/>
            <a:ext cx="10378440" cy="777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DAE1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1"/>
          <p:cNvSpPr/>
          <p:nvPr/>
        </p:nvSpPr>
        <p:spPr>
          <a:xfrm>
            <a:off x="987552" y="4727448"/>
            <a:ext cx="502920" cy="310896"/>
          </a:xfrm>
          <a:prstGeom prst="roundRect">
            <a:avLst>
              <a:gd fmla="val 16667" name="adj"/>
            </a:avLst>
          </a:prstGeom>
          <a:solidFill>
            <a:srgbClr val="6F42C1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 txBox="1"/>
          <p:nvPr/>
        </p:nvSpPr>
        <p:spPr>
          <a:xfrm>
            <a:off x="1060704" y="4782312"/>
            <a:ext cx="356616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P4</a:t>
            </a:r>
            <a:endParaRPr/>
          </a:p>
        </p:txBody>
      </p:sp>
      <p:sp>
        <p:nvSpPr>
          <p:cNvPr id="405" name="Google Shape;405;p11"/>
          <p:cNvSpPr txBox="1"/>
          <p:nvPr/>
        </p:nvSpPr>
        <p:spPr>
          <a:xfrm>
            <a:off x="1664208" y="4690872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6F42C1"/>
                </a:solidFill>
                <a:latin typeface="Arial"/>
                <a:ea typeface="Arial"/>
                <a:cs typeface="Arial"/>
                <a:sym typeface="Arial"/>
              </a:rPr>
              <a:t>¿Por qué sprints desiguales?</a:t>
            </a:r>
            <a:endParaRPr/>
          </a:p>
        </p:txBody>
      </p:sp>
      <p:sp>
        <p:nvSpPr>
          <p:cNvPr id="406" name="Google Shape;406;p11"/>
          <p:cNvSpPr txBox="1"/>
          <p:nvPr/>
        </p:nvSpPr>
        <p:spPr>
          <a:xfrm>
            <a:off x="4983480" y="4690872"/>
            <a:ext cx="5806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21821"/>
                </a:solidFill>
                <a:latin typeface="Arial"/>
                <a:ea typeface="Arial"/>
                <a:cs typeface="Arial"/>
                <a:sym typeface="Arial"/>
              </a:rPr>
              <a:t>Los primeros fueron de base; los siguientes concentraron Azure, LaTeX, evidencias y cierre.</a:t>
            </a:r>
            <a:endParaRPr/>
          </a:p>
        </p:txBody>
      </p:sp>
      <p:sp>
        <p:nvSpPr>
          <p:cNvPr id="407" name="Google Shape;407;p11"/>
          <p:cNvSpPr txBox="1"/>
          <p:nvPr/>
        </p:nvSpPr>
        <p:spPr>
          <a:xfrm>
            <a:off x="502920" y="6473952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25B6B"/>
                </a:solidFill>
                <a:latin typeface="Arial"/>
                <a:ea typeface="Arial"/>
                <a:cs typeface="Arial"/>
                <a:sym typeface="Arial"/>
              </a:rPr>
              <a:t>Karima Drafli Rico · Universidad de Burgos · Defensa TFG</a:t>
            </a:r>
            <a:endParaRPr/>
          </a:p>
        </p:txBody>
      </p:sp>
      <p:sp>
        <p:nvSpPr>
          <p:cNvPr id="408" name="Google Shape;408;p11"/>
          <p:cNvSpPr txBox="1"/>
          <p:nvPr/>
        </p:nvSpPr>
        <p:spPr>
          <a:xfrm>
            <a:off x="11292840" y="6446520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36575" spcFirstLastPara="1" rIns="36575" wrap="square" tIns="1827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