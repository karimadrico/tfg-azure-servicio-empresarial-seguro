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172200"/>
            <a:ext cx="12191695" cy="685800"/>
          </a:xfrm>
          <a:prstGeom prst="rect">
            <a:avLst/>
          </a:prstGeom>
          <a:solidFill>
            <a:srgbClr val="123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84048"/>
            <a:ext cx="107899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Trabajo Fin de Grado · Universidad de Burgos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08760"/>
            <a:ext cx="7498079" cy="1417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3000" b="1">
                <a:solidFill>
                  <a:srgbClr val="12304A"/>
                </a:solidFill>
              </a:defRPr>
            </a:pPr>
            <a:r>
              <a:t>Cloud Computing: Análisis, Diseño y Despliegue de un Servicio Empresarial Seguro en Microsoft Azure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3063240"/>
            <a:ext cx="6400800" cy="685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800" b="0">
                <a:solidFill>
                  <a:srgbClr val="4E5B6C"/>
                </a:solidFill>
              </a:defRPr>
            </a:pPr>
            <a:r>
              <a:t>Plataforma cloud para automatizar solicitudes TI con portal web, API Flask, Cosmos DB, Key Vault, Logic App, Zube y SonarCloud.</a:t>
            </a:r>
          </a:p>
        </p:txBody>
      </p:sp>
      <p:pic>
        <p:nvPicPr>
          <p:cNvPr id="7" name="Picture 6" descr="arquitectura_integral_tfg_az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1160" y="2926080"/>
            <a:ext cx="4714239" cy="2651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13232" y="6291072"/>
            <a:ext cx="530352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100" b="0">
                <a:solidFill>
                  <a:srgbClr val="FFFFFF"/>
                </a:solidFill>
              </a:defRPr>
            </a:pPr>
            <a:r>
              <a:t>Karima Drafli Rico · Grado en Ingeniería Informática Online · Curso 2025-2026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4652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788291"/>
                </a:solidFill>
              </a:defRPr>
            </a:pPr>
            <a:r>
              <a:t>Cloud Computing: servicio empresarial seguro en Microsoft Azure · Karima Drafli Rico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2304A"/>
                </a:solidFill>
              </a:defRPr>
            </a:pPr>
            <a:r>
              <a:t>Problema y objetivo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4E5B6C"/>
                </a:solidFill>
              </a:defRPr>
            </a:pPr>
            <a:r>
              <a:t>Automatización segura de solicitudes internas de 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0876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12304A"/>
                </a:solidFill>
              </a:defRPr>
            </a:pPr>
            <a:r>
              <a:t>Solicitudes repartidas entre correos, chats y hojas de cálculo.</a:t>
            </a:r>
          </a:p>
          <a:p>
            <a:pPr>
              <a:spcAft>
                <a:spcPts val="700"/>
              </a:spcAft>
              <a:defRPr sz="1800">
                <a:solidFill>
                  <a:srgbClr val="12304A"/>
                </a:solidFill>
              </a:defRPr>
            </a:pPr>
            <a:r>
              <a:t>Dificultad para priorizar, aprobar y medir el trabajo del equipo TI.</a:t>
            </a:r>
          </a:p>
          <a:p>
            <a:pPr>
              <a:spcAft>
                <a:spcPts val="700"/>
              </a:spcAft>
              <a:defRPr sz="1800">
                <a:solidFill>
                  <a:srgbClr val="12304A"/>
                </a:solidFill>
              </a:defRPr>
            </a:pPr>
            <a:r>
              <a:t>Necesidad de separar secretos, automatizar entradas y mantener trazabilidad.</a:t>
            </a:r>
          </a:p>
          <a:p>
            <a:pPr>
              <a:spcAft>
                <a:spcPts val="700"/>
              </a:spcAft>
              <a:defRPr sz="1800">
                <a:solidFill>
                  <a:srgbClr val="12304A"/>
                </a:solidFill>
              </a:defRPr>
            </a:pPr>
            <a:r>
              <a:t>Objetivo: construir un prototipo funcional desplegado y validado en Azure.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97880" y="1508760"/>
            <a:ext cx="5303520" cy="1005840"/>
          </a:xfrm>
          <a:prstGeom prst="roundRect">
            <a:avLst/>
          </a:prstGeom>
          <a:solidFill>
            <a:srgbClr val="F8FBFF"/>
          </a:solidFill>
          <a:ln w="16510">
            <a:solidFill>
              <a:srgbClr val="008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62472" y="1618488"/>
            <a:ext cx="49743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500">
                <a:solidFill>
                  <a:srgbClr val="008A45"/>
                </a:solidFill>
              </a:defRPr>
            </a:pPr>
            <a:r>
              <a:t>Resultado entregado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62472" y="2011680"/>
            <a:ext cx="49743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2304A"/>
                </a:solidFill>
              </a:defRPr>
            </a:pPr>
            <a:r>
              <a:t>Portal + API + reglas + Cosmos DB + Key Vault + Logic App + observabilidad.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97880" y="2788920"/>
            <a:ext cx="5303520" cy="1005840"/>
          </a:xfrm>
          <a:prstGeom prst="roundRect">
            <a:avLst/>
          </a:prstGeom>
          <a:solidFill>
            <a:srgbClr val="F8FBFF"/>
          </a:solidFill>
          <a:ln w="16510">
            <a:solidFill>
              <a:srgbClr val="F28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62472" y="2898648"/>
            <a:ext cx="49743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500">
                <a:solidFill>
                  <a:srgbClr val="F28B00"/>
                </a:solidFill>
              </a:defRPr>
            </a:pPr>
            <a:r>
              <a:t>Alcance honesto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62472" y="3291839"/>
            <a:ext cx="49743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2304A"/>
                </a:solidFill>
              </a:defRPr>
            </a:pPr>
            <a:r>
              <a:t>No sustituye a un ITSM comercial; demuestra una solución cloud empresarial completa y defendible.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97880" y="4069080"/>
            <a:ext cx="5303520" cy="1005840"/>
          </a:xfrm>
          <a:prstGeom prst="roundRect">
            <a:avLst/>
          </a:prstGeom>
          <a:solidFill>
            <a:srgbClr val="F8FBFF"/>
          </a:solidFill>
          <a:ln w="16510">
            <a:solidFill>
              <a:srgbClr val="695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62472" y="4178808"/>
            <a:ext cx="49743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500">
                <a:solidFill>
                  <a:srgbClr val="695BD0"/>
                </a:solidFill>
              </a:defRPr>
            </a:pPr>
            <a:r>
              <a:t>Evidencias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62472" y="4572000"/>
            <a:ext cx="49743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2304A"/>
                </a:solidFill>
              </a:defRPr>
            </a:pPr>
            <a:r>
              <a:t>27 pruebas, SonarCloud OK, Zube con 6 sprints, release v1.2.0 y despliegue real.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4652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788291"/>
                </a:solidFill>
              </a:defRPr>
            </a:pPr>
            <a:r>
              <a:t>Cloud Computing: servicio empresarial seguro en Microsoft Azure · Karima Drafli Rico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2304A"/>
                </a:solidFill>
              </a:defRPr>
            </a:pPr>
            <a:r>
              <a:t>Arquitectura final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4E5B6C"/>
                </a:solidFill>
              </a:defRPr>
            </a:pPr>
            <a:r>
              <a:t>Servicios Azure y herramientas de proceso</a:t>
            </a:r>
          </a:p>
        </p:txBody>
      </p:sp>
      <p:pic>
        <p:nvPicPr>
          <p:cNvPr id="6" name="Picture 5" descr="arquitectura_integral_tfg_az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1000" y="1234440"/>
            <a:ext cx="8859520" cy="49834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8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4652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788291"/>
                </a:solidFill>
              </a:defRPr>
            </a:pPr>
            <a:r>
              <a:t>Cloud Computing: servicio empresarial seguro en Microsoft Azure · Karima Drafli Rico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2304A"/>
                </a:solidFill>
              </a:defRPr>
            </a:pPr>
            <a:r>
              <a:t>Producto funcional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4E5B6C"/>
                </a:solidFill>
              </a:defRPr>
            </a:pPr>
            <a:r>
              <a:t>Portal web, bandeja TI y centro operativo</a:t>
            </a:r>
          </a:p>
        </p:txBody>
      </p:sp>
      <p:pic>
        <p:nvPicPr>
          <p:cNvPr id="6" name="Picture 5" descr="portal-solicitud-envi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432" y="1234440"/>
            <a:ext cx="2885134" cy="2011680"/>
          </a:xfrm>
          <a:prstGeom prst="rect">
            <a:avLst/>
          </a:prstGeom>
        </p:spPr>
      </p:pic>
      <p:pic>
        <p:nvPicPr>
          <p:cNvPr id="7" name="Picture 6" descr="solicitud-portal-gestionTI-tokenkeyvau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383729"/>
            <a:ext cx="3566160" cy="1713100"/>
          </a:xfrm>
          <a:prstGeom prst="rect">
            <a:avLst/>
          </a:prstGeom>
        </p:spPr>
      </p:pic>
      <p:pic>
        <p:nvPicPr>
          <p:cNvPr id="8" name="Picture 7" descr="portal-centro-operativo-sl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879" y="1354473"/>
            <a:ext cx="3474720" cy="177161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31520" y="3749039"/>
            <a:ext cx="3200400" cy="1234440"/>
          </a:xfrm>
          <a:prstGeom prst="roundRect">
            <a:avLst/>
          </a:prstGeom>
          <a:solidFill>
            <a:srgbClr val="F8FBFF"/>
          </a:solidFill>
          <a:ln w="1651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858768"/>
            <a:ext cx="28712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500">
                <a:solidFill>
                  <a:srgbClr val="0078D4"/>
                </a:solidFill>
              </a:defRPr>
            </a:pPr>
            <a:r>
              <a:t>Registro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4251959"/>
            <a:ext cx="287121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2304A"/>
                </a:solidFill>
              </a:defRPr>
            </a:pPr>
            <a:r>
              <a:t>Validación, clasificación, prioridad, impacto, responsable y SLA.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26280" y="3749039"/>
            <a:ext cx="3200400" cy="1234440"/>
          </a:xfrm>
          <a:prstGeom prst="roundRect">
            <a:avLst/>
          </a:prstGeom>
          <a:solidFill>
            <a:srgbClr val="F8FBFF"/>
          </a:solidFill>
          <a:ln w="16510">
            <a:solidFill>
              <a:srgbClr val="008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90872" y="3858768"/>
            <a:ext cx="28712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500">
                <a:solidFill>
                  <a:srgbClr val="008A45"/>
                </a:solidFill>
              </a:defRPr>
            </a:pPr>
            <a:r>
              <a:t>Gestión TI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90872" y="4251959"/>
            <a:ext cx="287121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2304A"/>
                </a:solidFill>
              </a:defRPr>
            </a:pPr>
            <a:r>
              <a:t>Token Bearer, filtros, detalle, aprobación, escalado y cierre.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21040" y="3749039"/>
            <a:ext cx="3017520" cy="1234440"/>
          </a:xfrm>
          <a:prstGeom prst="roundRect">
            <a:avLst/>
          </a:prstGeom>
          <a:solidFill>
            <a:srgbClr val="F8FBFF"/>
          </a:solidFill>
          <a:ln w="16510">
            <a:solidFill>
              <a:srgbClr val="F28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85632" y="3858768"/>
            <a:ext cx="26883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500">
                <a:solidFill>
                  <a:srgbClr val="F28B00"/>
                </a:solidFill>
              </a:defRPr>
            </a:pPr>
            <a:r>
              <a:t>Operación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85632" y="4251959"/>
            <a:ext cx="26883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2304A"/>
                </a:solidFill>
              </a:defRPr>
            </a:pPr>
            <a:r>
              <a:t>Carga, SLA vencido, alertas, métricas y satisfacción.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69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4652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788291"/>
                </a:solidFill>
              </a:defRPr>
            </a:pPr>
            <a:r>
              <a:t>Cloud Computing: servicio empresarial seguro en Microsoft Azure · Karima Drafli Rico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2304A"/>
                </a:solidFill>
              </a:defRPr>
            </a:pPr>
            <a:r>
              <a:t>Datos y seguridad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4E5B6C"/>
                </a:solidFill>
              </a:defRPr>
            </a:pPr>
            <a:r>
              <a:t>Evolución desde Blob Storage a Cosmos DB</a:t>
            </a:r>
          </a:p>
        </p:txBody>
      </p:sp>
      <p:pic>
        <p:nvPicPr>
          <p:cNvPr id="6" name="Picture 5" descr="base-de-datos-azure-cosmos-d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066" y="1325880"/>
            <a:ext cx="4113787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89320" y="1417320"/>
            <a:ext cx="5394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12304A"/>
                </a:solidFill>
              </a:defRPr>
            </a:pPr>
            <a:r>
              <a:t>Cosmos DB: cuenta cosmos-tfg-kdr-2026, BD tfg-solicitudes, contenedor solicitudes.</a:t>
            </a:r>
          </a:p>
          <a:p>
            <a:pPr>
              <a:spcAft>
                <a:spcPts val="700"/>
              </a:spcAft>
              <a:defRPr sz="1600">
                <a:solidFill>
                  <a:srgbClr val="12304A"/>
                </a:solidFill>
              </a:defRPr>
            </a:pPr>
            <a:r>
              <a:t>Partición /tipo_solicitud y documentos JSON independientes por solicitud.</a:t>
            </a:r>
          </a:p>
          <a:p>
            <a:pPr>
              <a:spcAft>
                <a:spcPts val="700"/>
              </a:spcAft>
              <a:defRPr sz="1600">
                <a:solidFill>
                  <a:srgbClr val="12304A"/>
                </a:solidFill>
              </a:defRPr>
            </a:pPr>
            <a:r>
              <a:t>Migración de 20 solicitudes existentes desde Blob Storage.</a:t>
            </a:r>
          </a:p>
          <a:p>
            <a:pPr>
              <a:spcAft>
                <a:spcPts val="700"/>
              </a:spcAft>
              <a:defRPr sz="1600">
                <a:solidFill>
                  <a:srgbClr val="12304A"/>
                </a:solidFill>
              </a:defRPr>
            </a:pPr>
            <a:r>
              <a:t>Key Vault conserva api-key y App Service accede mediante Managed Identity.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709160"/>
            <a:ext cx="10515600" cy="777240"/>
          </a:xfrm>
          <a:prstGeom prst="roundRect">
            <a:avLst/>
          </a:prstGeom>
          <a:solidFill>
            <a:srgbClr val="F8FBFF"/>
          </a:solidFill>
          <a:ln w="16510">
            <a:solidFill>
              <a:srgbClr val="008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4818888"/>
            <a:ext cx="101864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500">
                <a:solidFill>
                  <a:srgbClr val="008A45"/>
                </a:solidFill>
              </a:defRPr>
            </a:pPr>
            <a:r>
              <a:t>Validación real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5212080"/>
            <a:ext cx="10186416" cy="182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2304A"/>
                </a:solidFill>
              </a:defRPr>
            </a:pPr>
            <a:r>
              <a:t>/health confirma storage_mode: cosmos; la API crea, lista y calcula métricas sobre la persistencia final.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8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4652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788291"/>
                </a:solidFill>
              </a:defRPr>
            </a:pPr>
            <a:r>
              <a:t>Cloud Computing: servicio empresarial seguro en Microsoft Azure · Karima Drafli Rico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2304A"/>
                </a:solidFill>
              </a:defRPr>
            </a:pPr>
            <a:r>
              <a:t>Automatización e integración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4E5B6C"/>
                </a:solidFill>
              </a:defRPr>
            </a:pPr>
            <a:r>
              <a:t>Logic App como entrada desde sistemas externos</a:t>
            </a:r>
          </a:p>
        </p:txBody>
      </p:sp>
      <p:pic>
        <p:nvPicPr>
          <p:cNvPr id="6" name="Picture 5" descr="logic-app-created-requ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47262"/>
            <a:ext cx="5303520" cy="317475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09360" y="1325880"/>
            <a:ext cx="49834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2304A"/>
                </a:solidFill>
              </a:defRPr>
            </a:pPr>
            <a:r>
              <a:t>Un sistema externo envía una petición HTTP a la Logic App.</a:t>
            </a:r>
          </a:p>
          <a:p>
            <a:pPr>
              <a:spcAft>
                <a:spcPts val="700"/>
              </a:spcAft>
              <a:defRPr sz="1700">
                <a:solidFill>
                  <a:srgbClr val="12304A"/>
                </a:solidFill>
              </a:defRPr>
            </a:pPr>
            <a:r>
              <a:t>La Logic App invoca POST /solicitudes en la API desplegada.</a:t>
            </a:r>
          </a:p>
          <a:p>
            <a:pPr>
              <a:spcAft>
                <a:spcPts val="700"/>
              </a:spcAft>
              <a:defRPr sz="1700">
                <a:solidFill>
                  <a:srgbClr val="12304A"/>
                </a:solidFill>
              </a:defRPr>
            </a:pPr>
            <a:r>
              <a:t>La API mantiene la responsabilidad de validar, clasificar y persistir.</a:t>
            </a:r>
          </a:p>
          <a:p>
            <a:pPr>
              <a:spcAft>
                <a:spcPts val="700"/>
              </a:spcAft>
              <a:defRPr sz="1700">
                <a:solidFill>
                  <a:srgbClr val="12304A"/>
                </a:solidFill>
              </a:defRPr>
            </a:pPr>
            <a:r>
              <a:t>El flujo permite automatización sin exponer Cosmos DB ni duplicar reglas.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4652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788291"/>
                </a:solidFill>
              </a:defRPr>
            </a:pPr>
            <a:r>
              <a:t>Cloud Computing: servicio empresarial seguro en Microsoft Azure · Karima Drafli Rico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2304A"/>
                </a:solidFill>
              </a:defRPr>
            </a:pPr>
            <a:r>
              <a:t>Proceso de desarrollo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4E5B6C"/>
                </a:solidFill>
              </a:defRPr>
            </a:pPr>
            <a:r>
              <a:t>Seis sprints, trazabilidad y release final</a:t>
            </a:r>
          </a:p>
        </p:txBody>
      </p:sp>
      <p:pic>
        <p:nvPicPr>
          <p:cNvPr id="6" name="Picture 5" descr="sprints-total-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1707" y="1234440"/>
            <a:ext cx="4903144" cy="39776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37960" y="141732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2304A"/>
                </a:solidFill>
              </a:defRPr>
            </a:pPr>
            <a:r>
              <a:t>6 sprints cerrados en Zube.</a:t>
            </a:r>
          </a:p>
          <a:p>
            <a:pPr>
              <a:spcAft>
                <a:spcPts val="700"/>
              </a:spcAft>
              <a:defRPr sz="1700">
                <a:solidFill>
                  <a:srgbClr val="12304A"/>
                </a:solidFill>
              </a:defRPr>
            </a:pPr>
            <a:r>
              <a:t>145 puntos estimados: 127 cerrados y 18 retirados/replanificados.</a:t>
            </a:r>
          </a:p>
          <a:p>
            <a:pPr>
              <a:spcAft>
                <a:spcPts val="700"/>
              </a:spcAft>
              <a:defRPr sz="1700">
                <a:solidFill>
                  <a:srgbClr val="12304A"/>
                </a:solidFill>
              </a:defRPr>
            </a:pPr>
            <a:r>
              <a:t>Sprint 6: mejora final de persistencia con Cosmos DB.</a:t>
            </a:r>
          </a:p>
          <a:p>
            <a:pPr>
              <a:spcAft>
                <a:spcPts val="700"/>
              </a:spcAft>
              <a:defRPr sz="1700">
                <a:solidFill>
                  <a:srgbClr val="12304A"/>
                </a:solidFill>
              </a:defRPr>
            </a:pPr>
            <a:r>
              <a:t>Release final v1.2.0 publicada en GitHub.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0" y="4754880"/>
            <a:ext cx="4389120" cy="731520"/>
          </a:xfrm>
          <a:prstGeom prst="roundRect">
            <a:avLst/>
          </a:prstGeom>
          <a:solidFill>
            <a:srgbClr val="F8FBFF"/>
          </a:solidFill>
          <a:ln w="16510">
            <a:solidFill>
              <a:srgbClr val="695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48272" y="4864608"/>
            <a:ext cx="405993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500">
                <a:solidFill>
                  <a:srgbClr val="695BD0"/>
                </a:solidFill>
              </a:defRPr>
            </a:pPr>
            <a:r>
              <a:t>Buena práctica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48272" y="5257800"/>
            <a:ext cx="4059935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2304A"/>
                </a:solidFill>
              </a:defRPr>
            </a:pPr>
            <a:r>
              <a:t>El seguimiento se apoya en Zube, commits, releases, evidencias y pruebas.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8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4652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788291"/>
                </a:solidFill>
              </a:defRPr>
            </a:pPr>
            <a:r>
              <a:t>Cloud Computing: servicio empresarial seguro en Microsoft Azure · Karima Drafli Rico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2304A"/>
                </a:solidFill>
              </a:defRPr>
            </a:pPr>
            <a:r>
              <a:t>Calidad y validación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4E5B6C"/>
                </a:solidFill>
              </a:defRPr>
            </a:pPr>
            <a:r>
              <a:t>Pruebas, SonarCloud y verificación en Azure</a:t>
            </a:r>
          </a:p>
        </p:txBody>
      </p:sp>
      <p:pic>
        <p:nvPicPr>
          <p:cNvPr id="6" name="Picture 5" descr="sonarcloud-quality-gate-final-30jun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7171" y="1234440"/>
            <a:ext cx="2315017" cy="3017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080760" y="1325880"/>
            <a:ext cx="2377440" cy="1051560"/>
          </a:xfrm>
          <a:prstGeom prst="roundRect">
            <a:avLst/>
          </a:prstGeom>
          <a:solidFill>
            <a:srgbClr val="F8FBFF"/>
          </a:solidFill>
          <a:ln w="1651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45352" y="1435607"/>
            <a:ext cx="204825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500">
                <a:solidFill>
                  <a:srgbClr val="0078D4"/>
                </a:solidFill>
              </a:defRPr>
            </a:pPr>
            <a:r>
              <a:t>27 pruebas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45352" y="1828800"/>
            <a:ext cx="2048256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2304A"/>
                </a:solidFill>
              </a:defRPr>
            </a:pPr>
            <a:r>
              <a:t>unittest sobre API, reglas, seguridad, portal y persistencia.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23960" y="1325880"/>
            <a:ext cx="2377440" cy="1051560"/>
          </a:xfrm>
          <a:prstGeom prst="roundRect">
            <a:avLst/>
          </a:prstGeom>
          <a:solidFill>
            <a:srgbClr val="F8FBFF"/>
          </a:solidFill>
          <a:ln w="16510">
            <a:solidFill>
              <a:srgbClr val="008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88552" y="1435607"/>
            <a:ext cx="204825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500">
                <a:solidFill>
                  <a:srgbClr val="008A45"/>
                </a:solidFill>
              </a:defRPr>
            </a:pPr>
            <a:r>
              <a:t>SonarCloud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88552" y="1828800"/>
            <a:ext cx="2048256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2304A"/>
                </a:solidFill>
              </a:defRPr>
            </a:pPr>
            <a:r>
              <a:t>Quality Gate aprobado, 0 issues y 0,0 % duplicación.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2743200"/>
            <a:ext cx="2377440" cy="1051560"/>
          </a:xfrm>
          <a:prstGeom prst="roundRect">
            <a:avLst/>
          </a:prstGeom>
          <a:solidFill>
            <a:srgbClr val="F8FBFF"/>
          </a:solidFill>
          <a:ln w="16510">
            <a:solidFill>
              <a:srgbClr val="F28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45352" y="2852928"/>
            <a:ext cx="204825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500">
                <a:solidFill>
                  <a:srgbClr val="F28B00"/>
                </a:solidFill>
              </a:defRPr>
            </a:pPr>
            <a:r>
              <a:t>Azure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45352" y="3246120"/>
            <a:ext cx="2048256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2304A"/>
                </a:solidFill>
              </a:defRPr>
            </a:pPr>
            <a:r>
              <a:t>Verificación real de health, creación, listado y métricas.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23960" y="2743200"/>
            <a:ext cx="2377440" cy="1051560"/>
          </a:xfrm>
          <a:prstGeom prst="roundRect">
            <a:avLst/>
          </a:prstGeom>
          <a:solidFill>
            <a:srgbClr val="F8FBFF"/>
          </a:solidFill>
          <a:ln w="16510">
            <a:solidFill>
              <a:srgbClr val="695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88552" y="2852928"/>
            <a:ext cx="204825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500">
                <a:solidFill>
                  <a:srgbClr val="695BD0"/>
                </a:solidFill>
              </a:defRPr>
            </a:pPr>
            <a:r>
              <a:t>OpenAPI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88552" y="3246120"/>
            <a:ext cx="2048256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2304A"/>
                </a:solidFill>
              </a:defRPr>
            </a:pPr>
            <a:r>
              <a:t>Contrato interactivo para revisar endpoints.</a:t>
            </a:r>
          </a:p>
        </p:txBody>
      </p:sp>
      <p:pic>
        <p:nvPicPr>
          <p:cNvPr id="19" name="Picture 18" descr="documentacion-interactiva-de-AP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1982" y="4160520"/>
            <a:ext cx="1432474" cy="15087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69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4652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788291"/>
                </a:solidFill>
              </a:defRPr>
            </a:pPr>
            <a:r>
              <a:t>Cloud Computing: servicio empresarial seguro en Microsoft Azure · Karima Drafli Rico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2304A"/>
                </a:solidFill>
              </a:defRPr>
            </a:pPr>
            <a:r>
              <a:t>Viabilidad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4E5B6C"/>
                </a:solidFill>
              </a:defRPr>
            </a:pPr>
            <a:r>
              <a:t>Costes, licencias y protección de datos</a:t>
            </a:r>
          </a:p>
        </p:txBody>
      </p:sp>
      <p:pic>
        <p:nvPicPr>
          <p:cNvPr id="6" name="Picture 5" descr="grafico_costes_estima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445078"/>
            <a:ext cx="5029200" cy="305344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89320" y="132588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12304A"/>
                </a:solidFill>
              </a:defRPr>
            </a:pPr>
            <a:r>
              <a:t>Coste estimado: 300 h de trabajo y costes empresariales asociados.</a:t>
            </a:r>
          </a:p>
          <a:p>
            <a:pPr>
              <a:spcAft>
                <a:spcPts val="700"/>
              </a:spcAft>
              <a:defRPr sz="1600">
                <a:solidFill>
                  <a:srgbClr val="12304A"/>
                </a:solidFill>
              </a:defRPr>
            </a:pPr>
            <a:r>
              <a:t>Cosmos DB Free Tier y Azure for Students reducen el coste cloud del prototipo.</a:t>
            </a:r>
          </a:p>
          <a:p>
            <a:pPr>
              <a:spcAft>
                <a:spcPts val="700"/>
              </a:spcAft>
              <a:defRPr sz="1600">
                <a:solidFill>
                  <a:srgbClr val="12304A"/>
                </a:solidFill>
              </a:defRPr>
            </a:pPr>
            <a:r>
              <a:t>Licencia MIT para el código propio y revisión de licencias de dependencias.</a:t>
            </a:r>
          </a:p>
          <a:p>
            <a:pPr>
              <a:spcAft>
                <a:spcPts val="700"/>
              </a:spcAft>
              <a:defRPr sz="1600">
                <a:solidFill>
                  <a:srgbClr val="12304A"/>
                </a:solidFill>
              </a:defRPr>
            </a:pPr>
            <a:r>
              <a:t>Datos de prueba ficticios; en producción se aplicarían RGPD, roles, retención y auditoría.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4652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788291"/>
                </a:solidFill>
              </a:defRPr>
            </a:pPr>
            <a:r>
              <a:t>Cloud Computing: servicio empresarial seguro en Microsoft Azure · Karima Drafli Rico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2304A"/>
                </a:solidFill>
              </a:defRPr>
            </a:pPr>
            <a:r>
              <a:t>Conclusiones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4E5B6C"/>
                </a:solidFill>
              </a:defRPr>
            </a:pPr>
            <a:r>
              <a:t>Una solución cloud empresarial completa y defendible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25880"/>
            <a:ext cx="5486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12304A"/>
                </a:solidFill>
              </a:defRPr>
            </a:pPr>
            <a:r>
              <a:t>El prototipo cubre el flujo completo: solicitud, clasificación, aprobación, SLA, persistencia y métricas.</a:t>
            </a:r>
          </a:p>
          <a:p>
            <a:pPr>
              <a:spcAft>
                <a:spcPts val="700"/>
              </a:spcAft>
              <a:defRPr sz="1800">
                <a:solidFill>
                  <a:srgbClr val="12304A"/>
                </a:solidFill>
              </a:defRPr>
            </a:pPr>
            <a:r>
              <a:t>Azure aporta despliegue real, seguridad de secretos, automatización y observabilidad.</a:t>
            </a:r>
          </a:p>
          <a:p>
            <a:pPr>
              <a:spcAft>
                <a:spcPts val="700"/>
              </a:spcAft>
              <a:defRPr sz="1800">
                <a:solidFill>
                  <a:srgbClr val="12304A"/>
                </a:solidFill>
              </a:defRPr>
            </a:pPr>
            <a:r>
              <a:t>Cosmos DB mejora el diseño de datos respecto al blob único inicial.</a:t>
            </a:r>
          </a:p>
          <a:p>
            <a:pPr>
              <a:spcAft>
                <a:spcPts val="700"/>
              </a:spcAft>
              <a:defRPr sz="1800">
                <a:solidFill>
                  <a:srgbClr val="12304A"/>
                </a:solidFill>
              </a:defRPr>
            </a:pPr>
            <a:r>
              <a:t>La validación combina pruebas automáticas, SonarCloud, Zube, GitHub y evidencias del despliegue.</a:t>
            </a:r>
          </a:p>
        </p:txBody>
      </p:sp>
      <p:pic>
        <p:nvPicPr>
          <p:cNvPr id="7" name="Picture 6" descr="cartel-a3-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2201439"/>
            <a:ext cx="4114800" cy="2820881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68680" y="5440680"/>
            <a:ext cx="5303520" cy="685800"/>
          </a:xfrm>
          <a:prstGeom prst="roundRect">
            <a:avLst/>
          </a:prstGeom>
          <a:solidFill>
            <a:srgbClr val="F8FBFF"/>
          </a:solidFill>
          <a:ln w="16510">
            <a:solidFill>
              <a:srgbClr val="008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1" y="5550408"/>
            <a:ext cx="49743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500">
                <a:solidFill>
                  <a:srgbClr val="008A45"/>
                </a:solidFill>
              </a:defRPr>
            </a:pPr>
            <a:r>
              <a:t>Cierre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" y="5943600"/>
            <a:ext cx="4974336" cy="91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2304A"/>
                </a:solidFill>
              </a:defRPr>
            </a:pPr>
            <a:r>
              <a:t>Versión final v1.2.0 · Memoria y anexos generados · Pendiente solo de incorporar las URLs de vídeo al PDF de enlaces.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