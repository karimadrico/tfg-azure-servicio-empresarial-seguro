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6583680" cy="594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3800" b="1">
                <a:solidFill>
                  <a:srgbClr val="102140"/>
                </a:solidFill>
                <a:latin typeface="Aptos"/>
              </a:rPr>
              <a:t>Cloud Computing: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61872"/>
            <a:ext cx="7680960" cy="1325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3200" b="1">
                <a:solidFill>
                  <a:srgbClr val="102140"/>
                </a:solidFill>
                <a:latin typeface="Aptos"/>
              </a:rPr>
              <a:t>Análisis, Diseño y Despliegue de un Servicio Empresarial Seguro en Microsoft Azure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880360"/>
            <a:ext cx="72237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800" b="0">
                <a:solidFill>
                  <a:srgbClr val="525B6B"/>
                </a:solidFill>
                <a:latin typeface="Aptos"/>
              </a:rPr>
              <a:t>Karima Drafli Rico · Grado en Ingeniería Informática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3246120"/>
            <a:ext cx="72237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600" b="0">
                <a:solidFill>
                  <a:srgbClr val="525B6B"/>
                </a:solidFill>
                <a:latin typeface="Aptos"/>
              </a:rPr>
              <a:t>Tutor: José Ignacio Santos Martín · Curso 2025-2026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3730752"/>
            <a:ext cx="1325880" cy="310896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3785615"/>
            <a:ext cx="117957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Microsoft Azure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84831" y="3730752"/>
            <a:ext cx="960120" cy="310896"/>
          </a:xfrm>
          <a:prstGeom prst="roundRect">
            <a:avLst/>
          </a:prstGeom>
          <a:solidFill>
            <a:srgbClr val="1F8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7984" y="3785615"/>
            <a:ext cx="81381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Flask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82112" y="3730752"/>
            <a:ext cx="1078992" cy="310896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5264" y="3785615"/>
            <a:ext cx="93268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Logic Apps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3730752"/>
            <a:ext cx="1234440" cy="310896"/>
          </a:xfrm>
          <a:prstGeom prst="roundRect">
            <a:avLst/>
          </a:prstGeom>
          <a:solidFill>
            <a:srgbClr val="F27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785615"/>
            <a:ext cx="108813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SonarCloud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58200" y="502920"/>
            <a:ext cx="2971800" cy="5623560"/>
          </a:xfrm>
          <a:prstGeom prst="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rtel-a3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296048"/>
            <a:ext cx="2971800" cy="203730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0">
                <a:solidFill>
                  <a:srgbClr val="525B6B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1000" b="1">
                <a:solidFill>
                  <a:srgbClr val="0078D4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0078D4"/>
                </a:solidFill>
                <a:latin typeface="Aptos"/>
              </a:rPr>
              <a:t>TFG · SERVICIO EMPRESARIAL SEGURO EN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3400" b="1">
                <a:solidFill>
                  <a:srgbClr val="102140"/>
                </a:solidFill>
                <a:latin typeface="Aptos"/>
              </a:rPr>
              <a:t>Problema: solicitudes TI dispersas y poco trazables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2514600" cy="13258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2104" y="1975104"/>
            <a:ext cx="1417320" cy="310896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029968"/>
            <a:ext cx="127101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Canales dispersos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395728"/>
            <a:ext cx="214884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50" b="0">
                <a:solidFill>
                  <a:srgbClr val="121821"/>
                </a:solidFill>
                <a:latin typeface="Aptos"/>
              </a:rPr>
              <a:t>Correo, mensajes y formularios aislados impiden ver una cola común de trabajo.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1828800"/>
            <a:ext cx="2514600" cy="13258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66744" y="1975104"/>
            <a:ext cx="1417320" cy="310896"/>
          </a:xfrm>
          <a:prstGeom prst="roundRect">
            <a:avLst/>
          </a:prstGeom>
          <a:solidFill>
            <a:srgbClr val="F27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2029968"/>
            <a:ext cx="127101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Prioridad manual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2395728"/>
            <a:ext cx="214884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50" b="0">
                <a:solidFill>
                  <a:srgbClr val="121821"/>
                </a:solidFill>
                <a:latin typeface="Aptos"/>
              </a:rPr>
              <a:t>Cada petición se interpreta de forma distinta; falta impacto, criticidad y SLA.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886200"/>
            <a:ext cx="2514600" cy="13258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2104" y="4032504"/>
            <a:ext cx="1417320" cy="310896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" y="4087368"/>
            <a:ext cx="127101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Trazabilidad débil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" y="4453128"/>
            <a:ext cx="214884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50" b="0">
                <a:solidFill>
                  <a:srgbClr val="121821"/>
                </a:solidFill>
                <a:latin typeface="Aptos"/>
              </a:rPr>
              <a:t>No siempre queda claro quién aprobó, escaló, resolvió o modificó una solicitud.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886200"/>
            <a:ext cx="2514600" cy="13258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66744" y="4032504"/>
            <a:ext cx="1417320" cy="310896"/>
          </a:xfrm>
          <a:prstGeom prst="roundRect">
            <a:avLst/>
          </a:prstGeom>
          <a:solidFill>
            <a:srgbClr val="D24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9896" y="4087368"/>
            <a:ext cx="127101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Riesgo operativo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5032" y="4453128"/>
            <a:ext cx="214884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50" b="0">
                <a:solidFill>
                  <a:srgbClr val="121821"/>
                </a:solidFill>
                <a:latin typeface="Aptos"/>
              </a:rPr>
              <a:t>Las credenciales, evidencias y datos de empleados necesitan controles claros.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1783080"/>
            <a:ext cx="4526280" cy="3611880"/>
          </a:xfrm>
          <a:prstGeom prst="roundRect">
            <a:avLst/>
          </a:prstGeom>
          <a:solidFill>
            <a:srgbClr val="E3F0FF"/>
          </a:solidFill>
          <a:ln w="8890">
            <a:solidFill>
              <a:srgbClr val="ACC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67728" y="2148840"/>
            <a:ext cx="36576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900" b="1">
                <a:solidFill>
                  <a:srgbClr val="0078D4"/>
                </a:solidFill>
                <a:latin typeface="Aptos"/>
              </a:rPr>
              <a:t>Hipótesis del TFG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7728" y="2697480"/>
            <a:ext cx="3657600" cy="12344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400" b="1">
                <a:solidFill>
                  <a:srgbClr val="102140"/>
                </a:solidFill>
                <a:latin typeface="Aptos"/>
              </a:rPr>
              <a:t>Un proceso único, desplegado en Azure y apoyado en servicios gestionados, puede convertir solicitudes dispersas en trabajo priorizado, seguro y medible.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7728" y="4480560"/>
            <a:ext cx="365760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0">
                <a:solidFill>
                  <a:srgbClr val="525B6B"/>
                </a:solidFill>
                <a:latin typeface="Aptos"/>
              </a:rPr>
              <a:t>El objetivo no es replicar una suite ITSM comercial, sino demostrar una solución cloud empresarial de extremo a extremo.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0">
                <a:solidFill>
                  <a:srgbClr val="525B6B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1000" b="1">
                <a:solidFill>
                  <a:srgbClr val="0078D4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0078D4"/>
                </a:solidFill>
                <a:latin typeface="Aptos"/>
              </a:rPr>
              <a:t>TFG · SERVICIO EMPRESARIAL SEGURO EN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3400" b="1">
                <a:solidFill>
                  <a:srgbClr val="102140"/>
                </a:solidFill>
                <a:latin typeface="Aptos"/>
              </a:rPr>
              <a:t>Solución: plataforma cloud de automatización de solicitudes TI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993392"/>
            <a:ext cx="2084831" cy="2331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" y="2212848"/>
            <a:ext cx="822960" cy="310896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267712"/>
            <a:ext cx="67665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743200"/>
            <a:ext cx="16459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800" b="1">
                <a:solidFill>
                  <a:srgbClr val="102140"/>
                </a:solidFill>
                <a:latin typeface="Aptos"/>
              </a:rPr>
              <a:t>Entrada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154680"/>
            <a:ext cx="1664208" cy="6583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20" b="0">
                <a:solidFill>
                  <a:srgbClr val="525B6B"/>
                </a:solidFill>
                <a:latin typeface="Aptos"/>
              </a:rPr>
              <a:t>Portal web o Logic 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1993392"/>
            <a:ext cx="2084831" cy="2331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26664" y="2212848"/>
            <a:ext cx="822960" cy="310896"/>
          </a:xfrm>
          <a:prstGeom prst="roundRect">
            <a:avLst/>
          </a:prstGeom>
          <a:solidFill>
            <a:srgbClr val="1F8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99816" y="2267712"/>
            <a:ext cx="67665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Paso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6664" y="2743200"/>
            <a:ext cx="16459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800" b="1">
                <a:solidFill>
                  <a:srgbClr val="102140"/>
                </a:solidFill>
                <a:latin typeface="Aptos"/>
              </a:rPr>
              <a:t>Validación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6664" y="3154680"/>
            <a:ext cx="1664208" cy="6583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20" b="0">
                <a:solidFill>
                  <a:srgbClr val="525B6B"/>
                </a:solidFill>
                <a:latin typeface="Aptos"/>
              </a:rPr>
              <a:t>Catálogo de servicios y activos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8928" y="1993392"/>
            <a:ext cx="2084831" cy="2331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85232" y="2212848"/>
            <a:ext cx="822960" cy="310896"/>
          </a:xfrm>
          <a:prstGeom prst="roundRect">
            <a:avLst/>
          </a:prstGeom>
          <a:solidFill>
            <a:srgbClr val="F27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58384" y="2267712"/>
            <a:ext cx="67665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Paso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2743200"/>
            <a:ext cx="16459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800" b="1">
                <a:solidFill>
                  <a:srgbClr val="102140"/>
                </a:solidFill>
                <a:latin typeface="Aptos"/>
              </a:rPr>
              <a:t>Clasificación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2" y="3154680"/>
            <a:ext cx="1664208" cy="6583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20" b="0">
                <a:solidFill>
                  <a:srgbClr val="525B6B"/>
                </a:solidFill>
                <a:latin typeface="Aptos"/>
              </a:rPr>
              <a:t>Reglas explicables de prioridad e impacto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97496" y="1993392"/>
            <a:ext cx="2084831" cy="2331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43800" y="2212848"/>
            <a:ext cx="822960" cy="310896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16952" y="2267712"/>
            <a:ext cx="67665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Paso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743200"/>
            <a:ext cx="16459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800" b="1">
                <a:solidFill>
                  <a:srgbClr val="102140"/>
                </a:solidFill>
                <a:latin typeface="Aptos"/>
              </a:rPr>
              <a:t>Gestión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3154680"/>
            <a:ext cx="1664208" cy="6583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20" b="0">
                <a:solidFill>
                  <a:srgbClr val="525B6B"/>
                </a:solidFill>
                <a:latin typeface="Aptos"/>
              </a:rPr>
              <a:t>Aprobación, escalado, estado y SLA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56064" y="1993392"/>
            <a:ext cx="2084831" cy="2331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02368" y="2212848"/>
            <a:ext cx="822960" cy="310896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0" y="2267712"/>
            <a:ext cx="67665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Paso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02368" y="2743200"/>
            <a:ext cx="16459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800" b="1">
                <a:solidFill>
                  <a:srgbClr val="102140"/>
                </a:solidFill>
                <a:latin typeface="Aptos"/>
              </a:rPr>
              <a:t>Evidencia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02368" y="3154680"/>
            <a:ext cx="1664208" cy="6583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20" b="0">
                <a:solidFill>
                  <a:srgbClr val="525B6B"/>
                </a:solidFill>
                <a:latin typeface="Aptos"/>
              </a:rPr>
              <a:t>Historial, métricas, CSV y satisfacción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4892040"/>
            <a:ext cx="10698480" cy="731520"/>
          </a:xfrm>
          <a:prstGeom prst="roundRect">
            <a:avLst/>
          </a:prstGeom>
          <a:solidFill>
            <a:srgbClr val="E3F0FF"/>
          </a:solidFill>
          <a:ln w="8890">
            <a:solidFill>
              <a:srgbClr val="ACC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093208"/>
            <a:ext cx="1024128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100" b="1">
                <a:solidFill>
                  <a:srgbClr val="102140"/>
                </a:solidFill>
                <a:latin typeface="Aptos"/>
              </a:rPr>
              <a:t>La API centraliza reglas, persistencia y seguridad. El portal y la Logic App son canales de entrada: no duplican lógica de negocio.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0">
                <a:solidFill>
                  <a:srgbClr val="525B6B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1000" b="1">
                <a:solidFill>
                  <a:srgbClr val="0078D4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0078D4"/>
                </a:solidFill>
                <a:latin typeface="Aptos"/>
              </a:rPr>
              <a:t>TFG · SERVICIO EMPRESARIAL SEGURO EN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3400" b="1">
                <a:solidFill>
                  <a:srgbClr val="102140"/>
                </a:solidFill>
                <a:latin typeface="Aptos"/>
              </a:rPr>
              <a:t>Arquitectura desplegada en Microsoft Azure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quitectura_final_az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400822"/>
            <a:ext cx="11064240" cy="27421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916168"/>
            <a:ext cx="1078992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600" b="1">
                <a:solidFill>
                  <a:srgbClr val="0078D4"/>
                </a:solidFill>
                <a:latin typeface="Aptos"/>
              </a:rPr>
              <a:t>App Service · API Flask · Blob Storage · Key Vault · Managed Identity · Logic App · Application Insights · Azure Monitor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0">
                <a:solidFill>
                  <a:srgbClr val="525B6B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1000" b="1">
                <a:solidFill>
                  <a:srgbClr val="0078D4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0078D4"/>
                </a:solidFill>
                <a:latin typeface="Aptos"/>
              </a:rPr>
              <a:t>TFG · SERVICIO EMPRESARIAL SEGURO EN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3400" b="1">
                <a:solidFill>
                  <a:srgbClr val="102140"/>
                </a:solidFill>
                <a:latin typeface="Aptos"/>
              </a:rPr>
              <a:t>Funcionalidad empresarial implementada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897880" cy="3840480"/>
          </a:xfrm>
          <a:prstGeom prst="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ortal-operaciones-satisfa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600" y="1783080"/>
            <a:ext cx="3298838" cy="38404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720840" y="1783080"/>
            <a:ext cx="4389120" cy="78638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03720" y="1938528"/>
            <a:ext cx="1097280" cy="310896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76872" y="1993392"/>
            <a:ext cx="95097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Catálogo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1956816"/>
            <a:ext cx="269748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50" b="0">
                <a:solidFill>
                  <a:srgbClr val="121821"/>
                </a:solidFill>
                <a:latin typeface="Aptos"/>
              </a:rPr>
              <a:t>Servicios, activos, entornos y criticidad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2743200"/>
            <a:ext cx="4389120" cy="78638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03720" y="2898648"/>
            <a:ext cx="1097280" cy="310896"/>
          </a:xfrm>
          <a:prstGeom prst="roundRect">
            <a:avLst/>
          </a:prstGeom>
          <a:solidFill>
            <a:srgbClr val="1F8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76872" y="2953512"/>
            <a:ext cx="95097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Flujo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916936"/>
            <a:ext cx="269748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50" b="0">
                <a:solidFill>
                  <a:srgbClr val="121821"/>
                </a:solidFill>
                <a:latin typeface="Aptos"/>
              </a:rPr>
              <a:t>Aprobación, escalado, cierre e historial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3703320"/>
            <a:ext cx="4389120" cy="78638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03720" y="3858768"/>
            <a:ext cx="1097280" cy="310896"/>
          </a:xfrm>
          <a:prstGeom prst="roundRect">
            <a:avLst/>
          </a:prstGeom>
          <a:solidFill>
            <a:srgbClr val="F27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6872" y="3913631"/>
            <a:ext cx="95097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Operación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3877056"/>
            <a:ext cx="269748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50" b="0">
                <a:solidFill>
                  <a:srgbClr val="121821"/>
                </a:solidFill>
                <a:latin typeface="Aptos"/>
              </a:rPr>
              <a:t>SLA vencido, carga, métricas y CSV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4663440"/>
            <a:ext cx="4389120" cy="78638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3720" y="4818888"/>
            <a:ext cx="1097280" cy="310896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76872" y="4873751"/>
            <a:ext cx="95097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Calidad percibida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4837176"/>
            <a:ext cx="269748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50" b="0">
                <a:solidFill>
                  <a:srgbClr val="121821"/>
                </a:solidFill>
                <a:latin typeface="Aptos"/>
              </a:rPr>
              <a:t>Valoración final y satisfacción media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5486400"/>
            <a:ext cx="42062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600" b="1">
                <a:solidFill>
                  <a:srgbClr val="102140"/>
                </a:solidFill>
                <a:latin typeface="Aptos"/>
              </a:rPr>
              <a:t>El resultado se puede demostrar desde navegador: no depende de una maqueta estática.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0">
                <a:solidFill>
                  <a:srgbClr val="525B6B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1000" b="1">
                <a:solidFill>
                  <a:srgbClr val="0078D4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0078D4"/>
                </a:solidFill>
                <a:latin typeface="Aptos"/>
              </a:rPr>
              <a:t>TFG · SERVICIO EMPRESARIAL SEGURO EN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3400" b="1">
                <a:solidFill>
                  <a:srgbClr val="102140"/>
                </a:solidFill>
                <a:latin typeface="Aptos"/>
              </a:rPr>
              <a:t>Seguridad y diseño de datos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240280" cy="106070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6D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1947672" cy="38404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700" b="1">
                <a:solidFill>
                  <a:srgbClr val="0078D4"/>
                </a:solidFill>
                <a:latin typeface="Aptos"/>
              </a:rPr>
              <a:t>Key Vault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386584"/>
            <a:ext cx="1947672" cy="40233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Secreto api-key fuera del repositorio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1783080"/>
            <a:ext cx="2743200" cy="106070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6D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00984" y="1901952"/>
            <a:ext cx="2450592" cy="38404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700" b="1">
                <a:solidFill>
                  <a:srgbClr val="1F8F5B"/>
                </a:solidFill>
                <a:latin typeface="Aptos"/>
              </a:rPr>
              <a:t>Managed 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0984" y="2386584"/>
            <a:ext cx="2450592" cy="40233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Acceso a secretos sin credenciales cloud en código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783080"/>
            <a:ext cx="2468880" cy="106070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6D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8504" y="1901952"/>
            <a:ext cx="2176272" cy="38404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700" b="1">
                <a:solidFill>
                  <a:srgbClr val="F27E38"/>
                </a:solidFill>
                <a:latin typeface="Aptos"/>
              </a:rPr>
              <a:t>Bearer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2386584"/>
            <a:ext cx="2176272" cy="40233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Bandeja TI, métricas, CSV y demo protegidos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1783080"/>
            <a:ext cx="2331720" cy="106070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6D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61704" y="1901952"/>
            <a:ext cx="2039112" cy="38404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700" b="1">
                <a:solidFill>
                  <a:srgbClr val="6F42C1"/>
                </a:solidFill>
                <a:latin typeface="Aptos"/>
              </a:rPr>
              <a:t>HTTPS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61704" y="2386584"/>
            <a:ext cx="2039112" cy="40233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Comunicación pública cifrada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337560"/>
            <a:ext cx="5074920" cy="1783080"/>
          </a:xfrm>
          <a:prstGeom prst="roundRect">
            <a:avLst/>
          </a:prstGeom>
          <a:solidFill>
            <a:srgbClr val="E3F0FF"/>
          </a:solidFill>
          <a:ln w="8890">
            <a:solidFill>
              <a:srgbClr val="ACC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56616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000" b="1">
                <a:solidFill>
                  <a:srgbClr val="0078D4"/>
                </a:solidFill>
                <a:latin typeface="Aptos"/>
              </a:rPr>
              <a:t>Modelo documental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005072"/>
            <a:ext cx="4434840" cy="56692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650" b="0">
                <a:solidFill>
                  <a:srgbClr val="121821"/>
                </a:solidFill>
                <a:latin typeface="Aptos"/>
              </a:rPr>
              <a:t>Cada solicitud es JSON semiestructurado con identificador, contexto, estado, SLA, aprobación, escalado, valoración e historial 1..N.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3337560"/>
            <a:ext cx="5166360" cy="1783080"/>
          </a:xfrm>
          <a:prstGeom prst="roundRect">
            <a:avLst/>
          </a:prstGeom>
          <a:solidFill>
            <a:srgbClr val="FFF4E9"/>
          </a:solidFill>
          <a:ln w="8890">
            <a:solidFill>
              <a:srgbClr val="F6C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56616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000" b="1">
                <a:solidFill>
                  <a:srgbClr val="F27E38"/>
                </a:solidFill>
                <a:latin typeface="Aptos"/>
              </a:rPr>
              <a:t>Límite reconocido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05072"/>
            <a:ext cx="4526280" cy="56692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650" b="0">
                <a:solidFill>
                  <a:srgbClr val="121821"/>
                </a:solidFill>
                <a:latin typeface="Aptos"/>
              </a:rPr>
              <a:t>El prototipo usa un único blob JSON. En producción evolucionaría a ETag/If-Match o a una base de datos transaccional para concurrencia real.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532120"/>
            <a:ext cx="1033272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700" b="1">
                <a:solidFill>
                  <a:srgbClr val="102140"/>
                </a:solidFill>
                <a:latin typeface="Aptos"/>
              </a:rPr>
              <a:t>Portal y Logic App nunca acceden directamente al almacenamiento: toda modificación pasa por la API.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0">
                <a:solidFill>
                  <a:srgbClr val="525B6B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1000" b="1">
                <a:solidFill>
                  <a:srgbClr val="0078D4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0078D4"/>
                </a:solidFill>
                <a:latin typeface="Aptos"/>
              </a:rPr>
              <a:t>TFG · SERVICIO EMPRESARIAL SEGURO EN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3400" b="1">
                <a:solidFill>
                  <a:srgbClr val="102140"/>
                </a:solidFill>
                <a:latin typeface="Aptos"/>
              </a:rPr>
              <a:t>Proceso: planificación, código y calidad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577840" cy="3749039"/>
          </a:xfrm>
          <a:prstGeom prst="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zube_sprints_final_132_story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781" y="1783080"/>
            <a:ext cx="3390436" cy="374903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629400" y="1783080"/>
            <a:ext cx="214884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6D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75704" y="1901952"/>
            <a:ext cx="1856232" cy="38404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700" b="1">
                <a:solidFill>
                  <a:srgbClr val="0078D4"/>
                </a:solidFill>
                <a:latin typeface="Aptos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75704" y="2386584"/>
            <a:ext cx="1856232" cy="40233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sprints cerrados en Zube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20" y="1783080"/>
            <a:ext cx="214884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6D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6024" y="1901952"/>
            <a:ext cx="1856232" cy="38404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700" b="1">
                <a:solidFill>
                  <a:srgbClr val="F27E38"/>
                </a:solidFill>
                <a:latin typeface="Aptos"/>
              </a:rPr>
              <a:t>132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6024" y="2386584"/>
            <a:ext cx="1856232" cy="40233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puntos estimados de backlog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3154680"/>
            <a:ext cx="214884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6D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75704" y="3273552"/>
            <a:ext cx="1856232" cy="38404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700" b="1">
                <a:solidFill>
                  <a:srgbClr val="1F8F5B"/>
                </a:solidFill>
                <a:latin typeface="Aptos"/>
              </a:rPr>
              <a:t>114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75704" y="3758184"/>
            <a:ext cx="1856232" cy="40233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puntos cerrados registrados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3154680"/>
            <a:ext cx="214884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6D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6024" y="3273552"/>
            <a:ext cx="1856232" cy="38404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700" b="1">
                <a:solidFill>
                  <a:srgbClr val="6F42C1"/>
                </a:solidFill>
                <a:latin typeface="Aptos"/>
              </a:rPr>
              <a:t>218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3758184"/>
            <a:ext cx="1856232" cy="40233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commits en main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4681728"/>
            <a:ext cx="4663440" cy="749808"/>
          </a:xfrm>
          <a:prstGeom prst="roundRect">
            <a:avLst/>
          </a:prstGeom>
          <a:solidFill>
            <a:srgbClr val="F3F7FC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4864608"/>
            <a:ext cx="429768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20" b="0">
                <a:solidFill>
                  <a:srgbClr val="121821"/>
                </a:solidFill>
                <a:latin typeface="Aptos"/>
              </a:rPr>
              <a:t>El Sprint 3 conserva 18 puntos retirados por replanificación. La evolución se acredita con Zube, commits, releases y evidencias.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0">
                <a:solidFill>
                  <a:srgbClr val="525B6B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1000" b="1">
                <a:solidFill>
                  <a:srgbClr val="0078D4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0078D4"/>
                </a:solidFill>
                <a:latin typeface="Aptos"/>
              </a:rPr>
              <a:t>TFG · SERVICIO EMPRESARIAL SEGURO EN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3400" b="1">
                <a:solidFill>
                  <a:srgbClr val="102140"/>
                </a:solidFill>
                <a:latin typeface="Aptos"/>
              </a:rPr>
              <a:t>Validación técnica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212080" cy="3200400"/>
          </a:xfrm>
          <a:prstGeom prst="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onarcloud-quality-gate-final-23jun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0765" y="1828800"/>
            <a:ext cx="2810708" cy="3200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828800"/>
            <a:ext cx="256032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6D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9944" y="1947672"/>
            <a:ext cx="2267712" cy="38404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700" b="1">
                <a:solidFill>
                  <a:srgbClr val="1F8F5B"/>
                </a:solidFill>
                <a:latin typeface="Aptos"/>
              </a:rPr>
              <a:t>26/26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9944" y="2432304"/>
            <a:ext cx="2267712" cy="40233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pruebas automáticas superadas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1828800"/>
            <a:ext cx="21945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6D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90304" y="1947672"/>
            <a:ext cx="1901952" cy="38404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700" b="1">
                <a:solidFill>
                  <a:srgbClr val="1F8F5B"/>
                </a:solidFill>
                <a:latin typeface="Aptos"/>
              </a:rPr>
              <a:t>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0304" y="2432304"/>
            <a:ext cx="1901952" cy="40233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Quality Gate SonarCloud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200400"/>
            <a:ext cx="256032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6D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3319272"/>
            <a:ext cx="2267712" cy="38404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700" b="1">
                <a:solidFill>
                  <a:srgbClr val="1F8F5B"/>
                </a:solidFill>
                <a:latin typeface="Aptos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3803904"/>
            <a:ext cx="2267712" cy="40233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issues abiertos actuales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200400"/>
            <a:ext cx="21945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6D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0304" y="3319272"/>
            <a:ext cx="1901952" cy="38404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700" b="1">
                <a:solidFill>
                  <a:srgbClr val="1F8F5B"/>
                </a:solidFill>
                <a:latin typeface="Aptos"/>
              </a:rP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0304" y="3803904"/>
            <a:ext cx="1901952" cy="40233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duplicación en nuevo código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645152"/>
            <a:ext cx="5074920" cy="777240"/>
          </a:xfrm>
          <a:prstGeom prst="roundRect">
            <a:avLst/>
          </a:prstGeom>
          <a:solidFill>
            <a:srgbClr val="E3F0FF"/>
          </a:solidFill>
          <a:ln w="8890">
            <a:solidFill>
              <a:srgbClr val="ACCF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846320"/>
            <a:ext cx="468172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20" b="0">
                <a:solidFill>
                  <a:srgbClr val="102140"/>
                </a:solidFill>
                <a:latin typeface="Aptos"/>
              </a:rPr>
              <a:t>/health responde estado ok y storage_mode azure. Las operaciones protegidas requieren token Bearer entregado fuera del repositorio.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0">
                <a:solidFill>
                  <a:srgbClr val="525B6B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1000" b="1">
                <a:solidFill>
                  <a:srgbClr val="0078D4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0078D4"/>
                </a:solidFill>
                <a:latin typeface="Aptos"/>
              </a:rPr>
              <a:t>TFG · SERVICIO EMPRESARIAL SEGURO EN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3400" b="1">
                <a:solidFill>
                  <a:srgbClr val="102140"/>
                </a:solidFill>
                <a:latin typeface="Aptos"/>
              </a:rPr>
              <a:t>Recorrido recomendado para la demostración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2880360" cy="1051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2104" y="1929384"/>
            <a:ext cx="384048" cy="310896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984248"/>
            <a:ext cx="237744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929384"/>
            <a:ext cx="192024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50" b="1">
                <a:solidFill>
                  <a:srgbClr val="102140"/>
                </a:solidFill>
                <a:latin typeface="Aptos"/>
              </a:rPr>
              <a:t>/health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67712"/>
            <a:ext cx="19659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Estado ok y Azure Storage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783080"/>
            <a:ext cx="2880360" cy="1051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98264" y="1929384"/>
            <a:ext cx="384048" cy="310896"/>
          </a:xfrm>
          <a:prstGeom prst="roundRect">
            <a:avLst/>
          </a:prstGeom>
          <a:solidFill>
            <a:srgbClr val="1F8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1416" y="1984248"/>
            <a:ext cx="237744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0328" y="1929384"/>
            <a:ext cx="192024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50" b="1">
                <a:solidFill>
                  <a:srgbClr val="102140"/>
                </a:solidFill>
                <a:latin typeface="Aptos"/>
              </a:rPr>
              <a:t>Solicitud sensible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0328" y="2267712"/>
            <a:ext cx="19659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Catálogo, impacto y SLA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783080"/>
            <a:ext cx="2880360" cy="1051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64424" y="1929384"/>
            <a:ext cx="384048" cy="310896"/>
          </a:xfrm>
          <a:prstGeom prst="roundRect">
            <a:avLst/>
          </a:prstGeom>
          <a:solidFill>
            <a:srgbClr val="F27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37576" y="1984248"/>
            <a:ext cx="237744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6488" y="1929384"/>
            <a:ext cx="192024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50" b="1">
                <a:solidFill>
                  <a:srgbClr val="102140"/>
                </a:solidFill>
                <a:latin typeface="Aptos"/>
              </a:rPr>
              <a:t>Bandeja 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2267712"/>
            <a:ext cx="19659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Token Key Vault y filtros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337560"/>
            <a:ext cx="2880360" cy="1051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2104" y="3483864"/>
            <a:ext cx="384048" cy="310896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3538728"/>
            <a:ext cx="237744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4168" y="3483864"/>
            <a:ext cx="192024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50" b="1">
                <a:solidFill>
                  <a:srgbClr val="102140"/>
                </a:solidFill>
                <a:latin typeface="Aptos"/>
              </a:rPr>
              <a:t>Aprobación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4168" y="3822191"/>
            <a:ext cx="19659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Actor, motivo e historial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51960" y="3337560"/>
            <a:ext cx="2880360" cy="1051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98264" y="3483864"/>
            <a:ext cx="384048" cy="310896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3538728"/>
            <a:ext cx="237744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10328" y="3483864"/>
            <a:ext cx="192024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50" b="1">
                <a:solidFill>
                  <a:srgbClr val="102140"/>
                </a:solidFill>
                <a:latin typeface="Aptos"/>
              </a:rPr>
              <a:t>Centro operativo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10328" y="3822191"/>
            <a:ext cx="19659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SLA, CSV y satisfacción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18120" y="3337560"/>
            <a:ext cx="2880360" cy="1051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964424" y="3483864"/>
            <a:ext cx="384048" cy="310896"/>
          </a:xfrm>
          <a:prstGeom prst="roundRect">
            <a:avLst/>
          </a:prstGeom>
          <a:solidFill>
            <a:srgbClr val="1F8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37576" y="3538728"/>
            <a:ext cx="237744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6488" y="3483864"/>
            <a:ext cx="192024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50" b="1">
                <a:solidFill>
                  <a:srgbClr val="102140"/>
                </a:solidFill>
                <a:latin typeface="Aptos"/>
              </a:rPr>
              <a:t>Logic App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76488" y="3822191"/>
            <a:ext cx="19659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Entrada automática externa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51960" y="4892040"/>
            <a:ext cx="2880360" cy="1051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398264" y="5038344"/>
            <a:ext cx="384048" cy="310896"/>
          </a:xfrm>
          <a:prstGeom prst="roundRect">
            <a:avLst/>
          </a:prstGeom>
          <a:solidFill>
            <a:srgbClr val="F27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71416" y="5093207"/>
            <a:ext cx="237744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10328" y="5038344"/>
            <a:ext cx="192024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50" b="1">
                <a:solidFill>
                  <a:srgbClr val="102140"/>
                </a:solidFill>
                <a:latin typeface="Aptos"/>
              </a:rPr>
              <a:t>Cierre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10328" y="5376672"/>
            <a:ext cx="19659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50" b="0">
                <a:solidFill>
                  <a:srgbClr val="525B6B"/>
                </a:solidFill>
                <a:latin typeface="Aptos"/>
              </a:rPr>
              <a:t>SonarCloud, Zube y release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8680" y="5989320"/>
            <a:ext cx="10424160" cy="347472"/>
          </a:xfrm>
          <a:prstGeom prst="roundRect">
            <a:avLst/>
          </a:prstGeom>
          <a:solidFill>
            <a:srgbClr val="FFF4E9"/>
          </a:solidFill>
          <a:ln w="8890">
            <a:solidFill>
              <a:srgbClr val="F6C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6062472"/>
            <a:ext cx="1001268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50" b="1">
                <a:solidFill>
                  <a:srgbClr val="F27E38"/>
                </a:solidFill>
                <a:latin typeface="Aptos"/>
              </a:rPr>
              <a:t>Mensaje clave: solución cloud segura, no solo gestor de tickets. No mostrar tokens, URLs firmadas ni valores completos de secretos.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0">
                <a:solidFill>
                  <a:srgbClr val="525B6B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1000" b="1">
                <a:solidFill>
                  <a:srgbClr val="0078D4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0078D4"/>
                </a:solidFill>
                <a:latin typeface="Aptos"/>
              </a:rPr>
              <a:t>TFG · SERVICIO EMPRESARIAL SEGURO EN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3400" b="1">
                <a:solidFill>
                  <a:srgbClr val="102140"/>
                </a:solidFill>
                <a:latin typeface="Aptos"/>
              </a:rPr>
              <a:t>Conclusiones y evolución futura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691640"/>
            <a:ext cx="6537960" cy="6583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847088"/>
            <a:ext cx="1188720" cy="310896"/>
          </a:xfrm>
          <a:prstGeom prst="roundRect">
            <a:avLst/>
          </a:prstGeom>
          <a:solidFill>
            <a:srgbClr val="1F8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01952"/>
            <a:ext cx="104241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Cumplido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847088"/>
            <a:ext cx="45720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600" b="0">
                <a:solidFill>
                  <a:srgbClr val="121821"/>
                </a:solidFill>
                <a:latin typeface="Aptos"/>
              </a:rPr>
              <a:t>Prototipo funcional desplegado y evaluable desde navegador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14600"/>
            <a:ext cx="6537960" cy="6583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670048"/>
            <a:ext cx="1188720" cy="310896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24912"/>
            <a:ext cx="104241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Automatización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670048"/>
            <a:ext cx="45720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600" b="0">
                <a:solidFill>
                  <a:srgbClr val="121821"/>
                </a:solidFill>
                <a:latin typeface="Aptos"/>
              </a:rPr>
              <a:t>Portal + Logic App + aprobación + SLA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337560"/>
            <a:ext cx="6537960" cy="6583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3493008"/>
            <a:ext cx="1188720" cy="310896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547872"/>
            <a:ext cx="104241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Seguridad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3493008"/>
            <a:ext cx="45720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600" b="0">
                <a:solidFill>
                  <a:srgbClr val="121821"/>
                </a:solidFill>
                <a:latin typeface="Aptos"/>
              </a:rPr>
              <a:t>Key Vault, Managed Identity, HTTPS y Bearer token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160520"/>
            <a:ext cx="6537960" cy="6583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4315968"/>
            <a:ext cx="1188720" cy="310896"/>
          </a:xfrm>
          <a:prstGeom prst="roundRect">
            <a:avLst/>
          </a:prstGeom>
          <a:solidFill>
            <a:srgbClr val="F27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4370831"/>
            <a:ext cx="104241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Calidad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4315968"/>
            <a:ext cx="45720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600" b="0">
                <a:solidFill>
                  <a:srgbClr val="121821"/>
                </a:solidFill>
                <a:latin typeface="Aptos"/>
              </a:rPr>
              <a:t>Pruebas, SonarCloud, evidencias y LaTeX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983480"/>
            <a:ext cx="6537960" cy="6583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5138928"/>
            <a:ext cx="1188720" cy="310896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5193792"/>
            <a:ext cx="104241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Evolución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20" y="5138928"/>
            <a:ext cx="45720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600" b="0">
                <a:solidFill>
                  <a:srgbClr val="121821"/>
                </a:solidFill>
                <a:latin typeface="Aptos"/>
              </a:rPr>
              <a:t>Entra ID, concurrencia, BD transaccional y notificaciones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09560" y="1508760"/>
            <a:ext cx="3017520" cy="4526280"/>
          </a:xfrm>
          <a:prstGeom prst="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artel-a3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2737576"/>
            <a:ext cx="3017520" cy="206864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0">
                <a:solidFill>
                  <a:srgbClr val="525B6B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1000" b="1">
                <a:solidFill>
                  <a:srgbClr val="0078D4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0078D4"/>
                </a:solidFill>
                <a:latin typeface="Aptos"/>
              </a:rPr>
              <a:t>TFG · SERVICIO EMPRESARIAL SEGURO EN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3400" b="1">
                <a:solidFill>
                  <a:srgbClr val="102140"/>
                </a:solidFill>
                <a:latin typeface="Aptos"/>
              </a:rPr>
              <a:t>Preguntas previsibles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10378440" cy="7772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847088"/>
            <a:ext cx="502920" cy="310896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1901952"/>
            <a:ext cx="35661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810512"/>
            <a:ext cx="320040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50" b="1">
                <a:solidFill>
                  <a:srgbClr val="0078D4"/>
                </a:solidFill>
                <a:latin typeface="Aptos"/>
              </a:rPr>
              <a:t>¿Por qué Flask y no Django?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1810512"/>
            <a:ext cx="58064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0">
                <a:solidFill>
                  <a:srgbClr val="121821"/>
                </a:solidFill>
                <a:latin typeface="Aptos"/>
              </a:rPr>
              <a:t>API ligera y portal compacto; no se necesitaba ORM ni panel administrativo completo.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51760"/>
            <a:ext cx="10378440" cy="7772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2" y="2807208"/>
            <a:ext cx="502920" cy="310896"/>
          </a:xfrm>
          <a:prstGeom prst="roundRect">
            <a:avLst/>
          </a:prstGeom>
          <a:solidFill>
            <a:srgbClr val="1F8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2862072"/>
            <a:ext cx="35661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2770632"/>
            <a:ext cx="320040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50" b="1">
                <a:solidFill>
                  <a:srgbClr val="1F8F5B"/>
                </a:solidFill>
                <a:latin typeface="Aptos"/>
              </a:rPr>
              <a:t>¿Por qué un único blob JSON?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2770632"/>
            <a:ext cx="58064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0">
                <a:solidFill>
                  <a:srgbClr val="121821"/>
                </a:solidFill>
                <a:latin typeface="Aptos"/>
              </a:rPr>
              <a:t>Suficiente para prototipo; producción requeriría ETag o base de datos transaccional.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611880"/>
            <a:ext cx="10378440" cy="7772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3767328"/>
            <a:ext cx="502920" cy="310896"/>
          </a:xfrm>
          <a:prstGeom prst="roundRect">
            <a:avLst/>
          </a:prstGeom>
          <a:solidFill>
            <a:srgbClr val="F27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3822191"/>
            <a:ext cx="35661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3730752"/>
            <a:ext cx="320040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50" b="1">
                <a:solidFill>
                  <a:srgbClr val="F27E38"/>
                </a:solidFill>
                <a:latin typeface="Aptos"/>
              </a:rPr>
              <a:t>¿Es IA avanzada?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3730752"/>
            <a:ext cx="58064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0">
                <a:solidFill>
                  <a:srgbClr val="121821"/>
                </a:solidFill>
                <a:latin typeface="Aptos"/>
              </a:rPr>
              <a:t>No. Es clasificación ligera y explicable basada en reglas de negocio.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572000"/>
            <a:ext cx="10378440" cy="7772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4727448"/>
            <a:ext cx="502920" cy="310896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782312"/>
            <a:ext cx="35661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4690872"/>
            <a:ext cx="320040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50" b="1">
                <a:solidFill>
                  <a:srgbClr val="6F42C1"/>
                </a:solidFill>
                <a:latin typeface="Aptos"/>
              </a:rPr>
              <a:t>¿Por qué sprints desiguales?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4690872"/>
            <a:ext cx="58064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0">
                <a:solidFill>
                  <a:srgbClr val="121821"/>
                </a:solidFill>
                <a:latin typeface="Aptos"/>
              </a:rPr>
              <a:t>Los primeros fueron de base; los siguientes concentraron Azure, LaTeX, evidencias y cierre.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0">
                <a:solidFill>
                  <a:srgbClr val="525B6B"/>
                </a:solidFill>
                <a:latin typeface="Aptos"/>
              </a:rPr>
              <a:t>Karima Drafli Rico · Universidad de Burgos · Defensa TFG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1000" b="1">
                <a:solidFill>
                  <a:srgbClr val="0078D4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