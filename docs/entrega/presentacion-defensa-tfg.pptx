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Story points cerrados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Sprint 1</c:v>
                </c:pt>
                <c:pt idx="1">
                  <c:v>Sprint 2</c:v>
                </c:pt>
                <c:pt idx="2">
                  <c:v>Sprint 3</c:v>
                </c:pt>
                <c:pt idx="3">
                  <c:v>Sprint 4</c:v>
                </c:pt>
                <c:pt idx="4">
                  <c:v>Sprint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31</c:v>
                </c:pt>
                <c:pt idx="2">
                  <c:v>5</c:v>
                </c:pt>
                <c:pt idx="3">
                  <c:v>34</c:v>
                </c:pt>
                <c:pt idx="4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80467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Servicio empresarial seguro en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51760"/>
            <a:ext cx="7132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0">
                <a:solidFill>
                  <a:srgbClr val="E2E8F0"/>
                </a:solidFill>
              </a:rPr>
              <a:t>TFG · Grado en Ingeniería Informática</a:t>
            </a:r>
            <a:br/>
            <a:r>
              <a:rPr sz="2300" b="0">
                <a:solidFill>
                  <a:srgbClr val="E2E8F0"/>
                </a:solidFill>
              </a:rPr>
              <a:t>Karima Drafli Rico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Problema y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Automatización segura de solicitudes TI en un entorno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56692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>
                <a:solidFill>
                  <a:srgbClr val="334155"/>
                </a:solidFill>
              </a:rPr>
              <a:t>• La gestión manual dispersa dificulta trazabilidad, seguridad y priorización.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El prototipo centraliza solicitudes, clasificación, aprobación y seguimiento.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La solución se valida en Azure con una instancia real accesible para el tribunal.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60020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5472" y="1746504"/>
            <a:ext cx="33284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9496"/>
                </a:solidFill>
              </a:rPr>
              <a:t>Resultado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5472" y="2130552"/>
            <a:ext cx="3328416" cy="1901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Un flujo empresarial completo: portal, API, base documental, secretos en Key Vault, orquestación con Logic App, monitorización y calidad continua.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Arquitectura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Vista integral del sistema desplegado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uitectura_integral_tfg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111556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Persistencia con Cosmos 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Mejora final frente al blob JSON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078D4"/>
                </a:solidFill>
              </a:rPr>
              <a:t>Por qué se incorporó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2825496" cy="1673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El único blob JSON era suficiente para el prototipo, pero limitaba concurrencia, consulta y crecimiento. Cosmos DB encaja mejor con datos semiestructurados.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6002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9496"/>
                </a:solidFill>
              </a:rPr>
              <a:t>Cómo se migró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130552"/>
            <a:ext cx="2825496" cy="1673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Se añadió un backend opcional, se creó la cuenta Free Tier, se migraron las solicitudes existentes y se cambió STORAGE_MODE a cosmos.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6002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68048"/>
                </a:solidFill>
              </a:rPr>
              <a:t>Qué mejora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2130552"/>
            <a:ext cx="2825496" cy="1673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Cada solicitud se almacena como documento independiente, con partición por tipo, manteniendo el mismo contrato de API y portal.</a:t>
            </a:r>
          </a:p>
        </p:txBody>
      </p:sp>
      <p:pic>
        <p:nvPicPr>
          <p:cNvPr id="14" name="Picture 13" descr="base_de_datos_azure_cosmos_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343400"/>
            <a:ext cx="1005840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Producto entregado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Funcionalidades demostrables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100584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>
                <a:solidFill>
                  <a:srgbClr val="334155"/>
                </a:solidFill>
              </a:rPr>
              <a:t>• Alta de solicitudes TI desde portal web y desde Logic App.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Clasificación automática de prioridad, categoría, SLA y responsable.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Bandeja de gestión para el equipo TI con filtros, detalle y cambios de estado.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Catálogo de servicios y activos para contextualizar impacto.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Exportación CSV, métricas operativas, health check y pruebas automáticas.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Separación entre acceso, secretos y persistencia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078D4"/>
                </a:solidFill>
              </a:rPr>
              <a:t>Autenticación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2825496" cy="1856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Los endpoints operativos requieren Bearer token. La clave se custodia en Key Vault y se facilita al tribunal en el documento de enlaces.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9496"/>
                </a:solidFill>
              </a:rPr>
              <a:t>Identidad administrada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130552"/>
            <a:ext cx="2825496" cy="1856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App Service utiliza Managed Identity para acceder a secretos sin guardar credenciales en código fuente.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746504"/>
            <a:ext cx="2825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68048"/>
                </a:solidFill>
              </a:rPr>
              <a:t>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2130552"/>
            <a:ext cx="2825496" cy="1856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Cosmos DB almacena documentos privados; el portal y la Logic App nunca acceden directamente a la base de datos.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Proceso de desarrollo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Cinco sprints cerrados y trazabilidad en Zube/GitHub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00200"/>
          <a:ext cx="69494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1737360"/>
            <a:ext cx="25603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85632" y="1883664"/>
            <a:ext cx="2231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9496"/>
                </a:solidFill>
              </a:rPr>
              <a:t>Seguimiento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5632" y="2267712"/>
            <a:ext cx="2231136" cy="16733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Zube recoge sprints, HU, prioridades y story points. GitHub aporta histórico de commits y releases.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Calidad y validación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Pruebas, SonarCloud y despliegue verificado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46504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68048"/>
                </a:solidFill>
              </a:rPr>
              <a:t>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30552"/>
            <a:ext cx="2596896" cy="1490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27 pruebas automáticas cubren API, validación, clasificación, storage local y backend Cosmos simulado.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746504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078D4"/>
                </a:solidFill>
              </a:rPr>
              <a:t>SonarCloud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130552"/>
            <a:ext cx="2596896" cy="1490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Quality Gate aprobado, sin issues de seguridad abiertos y duplicación controlada.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46504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9496"/>
                </a:solidFill>
              </a:rPr>
              <a:t>Azure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130552"/>
            <a:ext cx="2596896" cy="1490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b="0">
                <a:solidFill>
                  <a:srgbClr val="334155"/>
                </a:solidFill>
              </a:rPr>
              <a:t>/health confirma la persistencia activa en Cosmos DB y los endpoints de demo responden en la nube.</a:t>
            </a:r>
          </a:p>
        </p:txBody>
      </p:sp>
      <p:pic>
        <p:nvPicPr>
          <p:cNvPr id="14" name="Picture 13" descr="sonarcloud-quality-gate-final-30ju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206240"/>
            <a:ext cx="685800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Limitaciones y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Alcance realista y justificable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24128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>
                <a:solidFill>
                  <a:srgbClr val="334155"/>
                </a:solidFill>
              </a:rPr>
              <a:t>• No sustituye a una plataforma ITSM comercial; es un prototipo cloud académico validado.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La clasificación es ligera y basada en reglas, adecuada para explicar el valor sin depender de modelos externos.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Cosmos DB mejora concurrencia y escalabilidad frente al blob inicial, manteniendo bajo coste con Free Tier.</a:t>
            </a:r>
          </a:p>
          <a:p>
            <a:pPr/>
            <a:r>
              <a:rPr sz="2200">
                <a:solidFill>
                  <a:srgbClr val="334155"/>
                </a:solidFill>
              </a:rPr>
              <a:t>• La solución se diseñó para demostración segura: sin datos personales reales ni secretos en repositorio.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347472"/>
            <a:ext cx="9692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Demostración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Recorrido para defensa y vídeo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43584"/>
            <a:ext cx="110185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2412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300">
                <a:solidFill>
                  <a:srgbClr val="334155"/>
                </a:solidFill>
              </a:rPr>
              <a:t>• Abrir el portal desplegado y crear una solicitud de acceso o incidencia.</a:t>
            </a:r>
          </a:p>
          <a:p>
            <a:pPr/>
            <a:r>
              <a:rPr sz="2300">
                <a:solidFill>
                  <a:srgbClr val="334155"/>
                </a:solidFill>
              </a:rPr>
              <a:t>• Mostrar la clasificación, SLA, responsable e historial generado.</a:t>
            </a:r>
          </a:p>
          <a:p>
            <a:pPr/>
            <a:r>
              <a:rPr sz="2300">
                <a:solidFill>
                  <a:srgbClr val="334155"/>
                </a:solidFill>
              </a:rPr>
              <a:t>• Ejecutar o mostrar Logic App como entrada automática desde otro sistema.</a:t>
            </a:r>
          </a:p>
          <a:p>
            <a:pPr/>
            <a:r>
              <a:rPr sz="2300">
                <a:solidFill>
                  <a:srgbClr val="334155"/>
                </a:solidFill>
              </a:rPr>
              <a:t>• Comprobar /health con STORAGE_MODE=cosmos y la evidencia en Cosmos DB.</a:t>
            </a:r>
          </a:p>
          <a:p>
            <a:pPr/>
            <a:r>
              <a:rPr sz="2300">
                <a:solidFill>
                  <a:srgbClr val="334155"/>
                </a:solidFill>
              </a:rPr>
              <a:t>• Cerrar con SonarCloud, Zube y releases como evidencias de proceso.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052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