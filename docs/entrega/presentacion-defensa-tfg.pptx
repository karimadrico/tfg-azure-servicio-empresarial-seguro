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HvkN5QMhZ88xBBrlldaog09PN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7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123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94360" y="38404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Trabajo Fin de Grado · Universidad de Burgos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508760"/>
            <a:ext cx="7498079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Cloud Computing: Análisis, Diseño y Despliegue de un Servicio Empresarial Seguro en Microsoft Azure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13227" y="3063250"/>
            <a:ext cx="4585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E5B6C"/>
                </a:solidFill>
                <a:latin typeface="Calibri"/>
                <a:ea typeface="Calibri"/>
                <a:cs typeface="Calibri"/>
                <a:sym typeface="Calibri"/>
              </a:rPr>
              <a:t>Plataforma cloud para automatizar solicitudes TI con portal web, API Flask, Cosmos DB, Key Vault, Logic App, Zube y SonarCloud.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quitectura_integral_tfg_azure.png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3450" y="2540550"/>
            <a:ext cx="6197076" cy="34858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3232" y="629107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Karima Drafli Rico · Grado en Ingeniería Informática Online · Curso 2025-2026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Cloud Computing: servicio empresarial seguro en Microsoft Azure · Karima Drafli 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02920" y="38404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Problema y 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5B6C"/>
                </a:solidFill>
                <a:latin typeface="Calibri"/>
                <a:ea typeface="Calibri"/>
                <a:cs typeface="Calibri"/>
                <a:sym typeface="Calibri"/>
              </a:rPr>
              <a:t>Automatización segura de solicitudes internas de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85800" y="1508760"/>
            <a:ext cx="47548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Solicitudes repartidas entre correos, chats y hojas de cálculo.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Dificultad para priorizar, aprobar y medir el trabajo del equipo TI.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Necesidad de separar secretos, automatizar entradas y mantener trazabilidad.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Objetivo: construir un prototipo funcional desplegado y validado en Azure.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897880" y="1508760"/>
            <a:ext cx="5303520" cy="100584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008A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062472" y="1618488"/>
            <a:ext cx="4974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8A45"/>
                </a:solidFill>
                <a:latin typeface="Calibri"/>
                <a:ea typeface="Calibri"/>
                <a:cs typeface="Calibri"/>
                <a:sym typeface="Calibri"/>
              </a:rPr>
              <a:t>Resultado entregado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062472" y="2011680"/>
            <a:ext cx="4974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Portal + API + reglas + Cosmos DB + Key Vault + Logic App + observabilidad.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897880" y="2788920"/>
            <a:ext cx="5303520" cy="100584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F28B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062472" y="2898648"/>
            <a:ext cx="4974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8B00"/>
                </a:solidFill>
                <a:latin typeface="Calibri"/>
                <a:ea typeface="Calibri"/>
                <a:cs typeface="Calibri"/>
                <a:sym typeface="Calibri"/>
              </a:rPr>
              <a:t>Alcance honesto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062472" y="3291839"/>
            <a:ext cx="4974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No sustituye a un ITSM comercial; demuestra una solución cloud empresarial completa y defendible.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897880" y="4069080"/>
            <a:ext cx="5303520" cy="100584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695B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062472" y="4178808"/>
            <a:ext cx="4974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95BD0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062472" y="4572000"/>
            <a:ext cx="4974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27 pruebas, SonarCloud OK, Zube con 6 sprints, release v1.2.0 y despliegue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Cloud Computing: servicio empresarial seguro en Microsoft Azure · Karima Drafli 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502920" y="38404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Arquitectura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5B6C"/>
                </a:solidFill>
                <a:latin typeface="Calibri"/>
                <a:ea typeface="Calibri"/>
                <a:cs typeface="Calibri"/>
                <a:sym typeface="Calibri"/>
              </a:rPr>
              <a:t>Servicios Azure y herramientas de proceso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quitectura_integral_tfg_azure.png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000" y="1234440"/>
            <a:ext cx="8859520" cy="4983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A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Cloud Computing: servicio empresarial seguro en Microsoft Azure · Karima Drafli 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502920" y="38404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Producto funcional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5B6C"/>
                </a:solidFill>
                <a:latin typeface="Calibri"/>
                <a:ea typeface="Calibri"/>
                <a:cs typeface="Calibri"/>
                <a:sym typeface="Calibri"/>
              </a:rPr>
              <a:t>Portal web, bandeja TI y centro operativo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ortal-solicitud-enviada.png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2" y="1234440"/>
            <a:ext cx="2885134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licitud-portal-gestionTI-tokenkeyvault.png" id="127" name="Google Shape;1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383729"/>
            <a:ext cx="3566160" cy="171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rtal-centro-operativo-sla.png" id="128" name="Google Shape;1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3879" y="1354473"/>
            <a:ext cx="3474720" cy="177161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731520" y="3749039"/>
            <a:ext cx="3200400" cy="123444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896112" y="3858768"/>
            <a:ext cx="2871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896112" y="4251959"/>
            <a:ext cx="2871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Validación, clasificación, prioridad, impacto, responsable y SLA.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526280" y="3749039"/>
            <a:ext cx="3200400" cy="123444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008A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4690872" y="3858768"/>
            <a:ext cx="28712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8A45"/>
                </a:solidFill>
                <a:latin typeface="Calibri"/>
                <a:ea typeface="Calibri"/>
                <a:cs typeface="Calibri"/>
                <a:sym typeface="Calibri"/>
              </a:rPr>
              <a:t>Gestión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4690872" y="4251959"/>
            <a:ext cx="2871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Token Bearer, filtros, detalle, aprobación, escalado y cierre.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8321040" y="3749039"/>
            <a:ext cx="3017520" cy="123444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F28B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8485632" y="3858768"/>
            <a:ext cx="2688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8B00"/>
                </a:solidFill>
                <a:latin typeface="Calibri"/>
                <a:ea typeface="Calibri"/>
                <a:cs typeface="Calibri"/>
                <a:sym typeface="Calibri"/>
              </a:rPr>
              <a:t>Operación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8485632" y="4251959"/>
            <a:ext cx="26883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Carga, SLA vencido, alertas, métricas y satisfacción.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95B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Cloud Computing: servicio empresarial seguro en Microsoft Azure · Karima Drafli 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502920" y="38404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Datos y seguridad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5B6C"/>
                </a:solidFill>
                <a:latin typeface="Calibri"/>
                <a:ea typeface="Calibri"/>
                <a:cs typeface="Calibri"/>
                <a:sym typeface="Calibri"/>
              </a:rPr>
              <a:t>Evolución desde Blob Storage a Cosmos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se-de-datos-azure-cosmos-db.png" id="146" name="Google Shape;1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066" y="1325880"/>
            <a:ext cx="4113787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5989320" y="1417320"/>
            <a:ext cx="5394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Cosmos DB: cuenta cosmos-tfg-kdr-2026, BD tfg-solicitudes, contenedor solicitudes.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Partición /tipo_solicitud y documentos JSON independientes por solicitud.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Migración de 20 solicitudes existentes desde Blob Storage.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Key Vault conserva api-key y App Service accede mediante Managed Identity.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22960" y="4709160"/>
            <a:ext cx="10515600" cy="77724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008A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987552" y="4818888"/>
            <a:ext cx="101864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8A45"/>
                </a:solidFill>
                <a:latin typeface="Calibri"/>
                <a:ea typeface="Calibri"/>
                <a:cs typeface="Calibri"/>
                <a:sym typeface="Calibri"/>
              </a:rPr>
              <a:t>Validación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987552" y="5212080"/>
            <a:ext cx="10186416" cy="182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/health confirma storage_mode: cosmos; la API crea, lista y calcula métricas sobre la persistencia final.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B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Cloud Computing: servicio empresarial seguro en Microsoft Azure · Karima Drafli 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502920" y="38404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Automatización e integración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5B6C"/>
                </a:solidFill>
                <a:latin typeface="Calibri"/>
                <a:ea typeface="Calibri"/>
                <a:cs typeface="Calibri"/>
                <a:sym typeface="Calibri"/>
              </a:rPr>
              <a:t>Logic App como entrada desde sistemas externos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ic-app-created-request.png"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300" y="1252724"/>
            <a:ext cx="5554077" cy="3324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6309360" y="1325880"/>
            <a:ext cx="4983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Un sistema externo envía una petición HTTP a la Logic App.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La Logic App invoca POST /solicitudes en la API desplegada.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La API mantiene la responsabilidad de validar, clasificar y persistir.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El flujo permite automatización sin exponer Cosmos DB ni duplicar reglas.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Cloud Computing: servicio empresarial seguro en Microsoft Azure · Karima Drafli 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502920" y="38404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Proceso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5B6C"/>
                </a:solidFill>
                <a:latin typeface="Calibri"/>
                <a:ea typeface="Calibri"/>
                <a:cs typeface="Calibri"/>
                <a:sym typeface="Calibri"/>
              </a:rPr>
              <a:t>Seis sprints, trazabilidad y release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prints-total-6.png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1707" y="1234440"/>
            <a:ext cx="4903144" cy="397763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 txBox="1"/>
          <p:nvPr/>
        </p:nvSpPr>
        <p:spPr>
          <a:xfrm>
            <a:off x="6537960" y="141732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6 sprints cerrados en Zube.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145 puntos estimados: 127 cerrados y 18 retirados/replanificados.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Sprint 6: mejora final de persistencia con Cosmos DB.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Release final v1.2.0 publicada en GitHub.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583675" y="4754874"/>
            <a:ext cx="4389000" cy="90690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695B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748272" y="4864608"/>
            <a:ext cx="40599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95BD0"/>
                </a:solidFill>
                <a:latin typeface="Calibri"/>
                <a:ea typeface="Calibri"/>
                <a:cs typeface="Calibri"/>
                <a:sym typeface="Calibri"/>
              </a:rPr>
              <a:t>Buena práctica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6748275" y="5184650"/>
            <a:ext cx="405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El seguimiento se apoya en Zube, commits, releases, evidencias y pruebas.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A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Cloud Computing: servicio empresarial seguro en Microsoft Azure · Karima Drafli 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502920" y="38404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Calidad y validación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5B6C"/>
                </a:solidFill>
                <a:latin typeface="Calibri"/>
                <a:ea typeface="Calibri"/>
                <a:cs typeface="Calibri"/>
                <a:sym typeface="Calibri"/>
              </a:rPr>
              <a:t>Pruebas, SonarCloud y verificación en Azure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onarcloud-quality-gate-final-30junio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075" y="1252727"/>
            <a:ext cx="2315025" cy="346130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6080760" y="132588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6245352" y="1435607"/>
            <a:ext cx="2048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27 pruebas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6245350" y="1737350"/>
            <a:ext cx="2048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unittest sobre API, reglas, seguridad, portal y persistencia.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823960" y="132588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008A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8988552" y="1435607"/>
            <a:ext cx="2048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8A45"/>
                </a:solidFill>
                <a:latin typeface="Calibri"/>
                <a:ea typeface="Calibri"/>
                <a:cs typeface="Calibri"/>
                <a:sym typeface="Calibri"/>
              </a:rPr>
              <a:t>SonarCloud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8988552" y="1828800"/>
            <a:ext cx="2048256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Quality Gate aprobado, 0 issues y 0,0 % duplicación.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080760" y="274320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F28B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6245352" y="2852928"/>
            <a:ext cx="2048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8B00"/>
                </a:solidFill>
                <a:latin typeface="Calibri"/>
                <a:ea typeface="Calibri"/>
                <a:cs typeface="Calibri"/>
                <a:sym typeface="Calibri"/>
              </a:rPr>
              <a:t>Azure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6245352" y="3246120"/>
            <a:ext cx="2048256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Verificación real de health, creación, listado y métricas.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823960" y="2743200"/>
            <a:ext cx="2377440" cy="105156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695B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8988552" y="2852928"/>
            <a:ext cx="2048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95BD0"/>
                </a:solidFill>
                <a:latin typeface="Calibri"/>
                <a:ea typeface="Calibri"/>
                <a:cs typeface="Calibri"/>
                <a:sym typeface="Calibri"/>
              </a:rPr>
              <a:t>OpenAPI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8988552" y="3246120"/>
            <a:ext cx="2048256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Contrato interactivo para revisar endpoints.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ocumentacion-interactiva-de-API.png" id="195" name="Google Shape;19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6602" y="1252724"/>
            <a:ext cx="3328876" cy="3506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95B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Cloud Computing: servicio empresarial seguro en Microsoft Azure · Karima Drafli 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502920" y="38404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Viabilidad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530352" y="93268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5B6C"/>
                </a:solidFill>
                <a:latin typeface="Calibri"/>
                <a:ea typeface="Calibri"/>
                <a:cs typeface="Calibri"/>
                <a:sym typeface="Calibri"/>
              </a:rPr>
              <a:t>Costes, licencias y protección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fico_costes_estimados.png" id="204" name="Google Shape;2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45078"/>
            <a:ext cx="5029200" cy="305344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 txBox="1"/>
          <p:nvPr/>
        </p:nvSpPr>
        <p:spPr>
          <a:xfrm>
            <a:off x="5989320" y="1325880"/>
            <a:ext cx="53035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Coste estimado: 300 h de trabajo y costes empresariales asociados.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Cosmos DB Free Tier y Azure for Students reducen el coste cloud del prototipo.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Licencia MIT para el código propio y revisión de licencias de dependencias.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Datos de prueba ficticios; en producción se aplicarían RGPD, roles, retención y auditoría.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0" y="0"/>
            <a:ext cx="12191700" cy="1464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502920" y="6446520"/>
            <a:ext cx="1115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88291"/>
                </a:solidFill>
                <a:latin typeface="Calibri"/>
                <a:ea typeface="Calibri"/>
                <a:cs typeface="Calibri"/>
                <a:sym typeface="Calibri"/>
              </a:rPr>
              <a:t>Cloud Computing: servicio empresarial seguro en Microsoft Azure · Karima Drafli Rico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502920" y="384048"/>
            <a:ext cx="1097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530352" y="932688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E5B6C"/>
                </a:solidFill>
                <a:latin typeface="Calibri"/>
                <a:ea typeface="Calibri"/>
                <a:cs typeface="Calibri"/>
                <a:sym typeface="Calibri"/>
              </a:rPr>
              <a:t>Una solución cloud empresarial completa y defendible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822960" y="1325880"/>
            <a:ext cx="54864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El prototipo cubre el flujo completo: solicitud, clasificación, aprobación, SLA, persistencia y métricas.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Azure aporta despliegue real, seguridad de secretos, automatización y observabilidad.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Cosmos DB mejora el diseño de datos respecto al blob único inicial.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La validación combina pruebas automáticas, SonarCloud, Zube, GitHub y evidencias del despliegue.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868675" y="5440674"/>
            <a:ext cx="5303400" cy="83580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16500">
            <a:solidFill>
              <a:srgbClr val="008A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1033271" y="5550408"/>
            <a:ext cx="497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8A45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1033225" y="5758325"/>
            <a:ext cx="4974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Versión final v1.2.0 · Memoria, anexos, release y evidencias finales generadas.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1760" y="1405188"/>
            <a:ext cx="5577517" cy="3862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