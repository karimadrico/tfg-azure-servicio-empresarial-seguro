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8458200" y="502920"/>
            <a:ext cx="2971800" cy="5623560"/>
          </a:xfrm>
          <a:prstGeom prst="rect">
            <a:avLst/>
          </a:prstGeom>
          <a:noFill/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94360" y="685800"/>
            <a:ext cx="6583680" cy="59436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800" b="1">
                <a:solidFill>
                  <a:srgbClr val="121821"/>
                </a:solidFill>
                <a:latin typeface="Aptos"/>
              </a:rPr>
              <a:t>Cloud Computing: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61872"/>
            <a:ext cx="7680960" cy="1325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200" b="1">
                <a:solidFill>
                  <a:srgbClr val="121821"/>
                </a:solidFill>
                <a:latin typeface="Aptos"/>
              </a:rPr>
              <a:t>Análisis, Diseño y Despliegue de un Servicio Empresarial Seguro en Microsoft Azure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880360"/>
            <a:ext cx="72237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800" b="0">
                <a:solidFill>
                  <a:srgbClr val="565E6C"/>
                </a:solidFill>
                <a:latin typeface="Aptos"/>
              </a:rPr>
              <a:t>Karima Drafli Rico · Grado en Ingeniería Informática Online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3246120"/>
            <a:ext cx="72237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600" b="0">
                <a:solidFill>
                  <a:srgbClr val="565E6C"/>
                </a:solidFill>
                <a:latin typeface="Aptos"/>
              </a:rPr>
              <a:t>Tutor: José Ignacio Santos Martín · Curso 2025-2026</a:t>
            </a:r>
          </a:p>
        </p:txBody>
      </p:sp>
      <p:pic>
        <p:nvPicPr>
          <p:cNvPr id="6" name="Picture 5" descr="cartel-a3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2296048"/>
            <a:ext cx="2971800" cy="20373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900" b="0">
                <a:solidFill>
                  <a:srgbClr val="565E6C"/>
                </a:solidFill>
                <a:latin typeface="Aptos"/>
              </a:rPr>
              <a:t>Karima Drafli Rico · Universidad de Burgos · Defensa TFG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000" b="1">
                <a:solidFill>
                  <a:srgbClr val="565E6C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1">
                <a:solidFill>
                  <a:srgbClr val="565E6C"/>
                </a:solidFill>
                <a:latin typeface="Aptos"/>
              </a:rPr>
              <a:t>TFG · PLATAFORMA CLOUD DE SOLICITUDES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21821"/>
                </a:solidFill>
                <a:latin typeface="Aptos"/>
              </a:rPr>
              <a:t>Problema: solicitudes TI dispersas y poco trazables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17320"/>
            <a:ext cx="11155680" cy="18288"/>
          </a:xfrm>
          <a:prstGeom prst="rect">
            <a:avLst/>
          </a:prstGeom>
          <a:solidFill>
            <a:srgbClr val="D7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5577840" cy="3108960"/>
          </a:xfrm>
          <a:prstGeom prst="rect">
            <a:avLst/>
          </a:prstGeom>
          <a:noFill/>
        </p:spPr>
        <p:txBody>
          <a:bodyPr wrap="square" lIns="27432" rIns="27432">
            <a:norm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21821"/>
                </a:solidFill>
                <a:latin typeface="Aptos"/>
              </a:defRPr>
            </a:pPr>
            <a:r>
              <a:t>Peticiones de acceso, configuración o soporte llegan por canales distintos.</a:t>
            </a:r>
          </a:p>
          <a:p>
            <a:pPr>
              <a:spcAft>
                <a:spcPts val="800"/>
              </a:spcAft>
              <a:defRPr sz="2000">
                <a:solidFill>
                  <a:srgbClr val="121821"/>
                </a:solidFill>
                <a:latin typeface="Aptos"/>
              </a:defRPr>
            </a:pPr>
            <a:r>
              <a:t>La prioridad y el impacto se deciden manualmente y sin criterio común.</a:t>
            </a:r>
          </a:p>
          <a:p>
            <a:pPr>
              <a:spcAft>
                <a:spcPts val="800"/>
              </a:spcAft>
              <a:defRPr sz="2000">
                <a:solidFill>
                  <a:srgbClr val="121821"/>
                </a:solidFill>
                <a:latin typeface="Aptos"/>
              </a:defRPr>
            </a:pPr>
            <a:r>
              <a:t>Credenciales y evidencias pueden quedar repartidas entre herramientas.</a:t>
            </a:r>
          </a:p>
          <a:p>
            <a:pPr>
              <a:spcAft>
                <a:spcPts val="800"/>
              </a:spcAft>
              <a:defRPr sz="2000">
                <a:solidFill>
                  <a:srgbClr val="121821"/>
                </a:solidFill>
                <a:latin typeface="Aptos"/>
              </a:defRPr>
            </a:pPr>
            <a:r>
              <a:t>Falta una visión operativa de SLA, responsables, escalados y satisfacción.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0840" y="1828800"/>
            <a:ext cx="4663440" cy="3200400"/>
          </a:xfrm>
          <a:prstGeom prst="roundRect">
            <a:avLst/>
          </a:prstGeom>
          <a:solidFill>
            <a:srgbClr val="F1F4F8"/>
          </a:solidFill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0" y="2176272"/>
            <a:ext cx="384048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800" b="1">
                <a:solidFill>
                  <a:srgbClr val="1F6FEB"/>
                </a:solidFill>
                <a:latin typeface="Aptos"/>
              </a:rPr>
              <a:t>Idea central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2651760"/>
            <a:ext cx="3749039" cy="150876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21821"/>
                </a:solidFill>
                <a:latin typeface="Aptos"/>
              </a:rPr>
              <a:t>Construir una plataforma cloud pequeña, segura y demostrable que convierta una solicitud dispersa en un flujo trazable con clasificación, aprobación, SLA y métricas.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4407408"/>
            <a:ext cx="3749039" cy="59436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500" b="0">
                <a:solidFill>
                  <a:srgbClr val="565E6C"/>
                </a:solidFill>
                <a:latin typeface="Aptos"/>
              </a:rPr>
              <a:t>No se busca sustituir a una plataforma ITSM comercial; se busca demostrar diseño cloud, seguridad y validación de extremo a extremo.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900" b="0">
                <a:solidFill>
                  <a:srgbClr val="565E6C"/>
                </a:solidFill>
                <a:latin typeface="Aptos"/>
              </a:rPr>
              <a:t>Karima Drafli Rico · Universidad de Burgos · Defensa TFG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000" b="1">
                <a:solidFill>
                  <a:srgbClr val="565E6C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1">
                <a:solidFill>
                  <a:srgbClr val="565E6C"/>
                </a:solidFill>
                <a:latin typeface="Aptos"/>
              </a:rPr>
              <a:t>TFG · PLATAFORMA CLOUD DE SOLICITUDES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21821"/>
                </a:solidFill>
                <a:latin typeface="Aptos"/>
              </a:rPr>
              <a:t>Solución: plataforma cloud de automatización de solicitudes TI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17320"/>
            <a:ext cx="11155680" cy="18288"/>
          </a:xfrm>
          <a:prstGeom prst="rect">
            <a:avLst/>
          </a:prstGeom>
          <a:solidFill>
            <a:srgbClr val="D7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205740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12848"/>
            <a:ext cx="4572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800" b="1">
                <a:solidFill>
                  <a:srgbClr val="F06F2E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61488"/>
            <a:ext cx="16459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700" b="1">
                <a:solidFill>
                  <a:srgbClr val="121821"/>
                </a:solidFill>
                <a:latin typeface="Aptos"/>
              </a:rPr>
              <a:t>Entrada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54680"/>
            <a:ext cx="1664208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300" b="0">
                <a:solidFill>
                  <a:srgbClr val="565E6C"/>
                </a:solidFill>
                <a:latin typeface="Aptos"/>
              </a:rPr>
              <a:t>Portal web o Logic 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2057400"/>
            <a:ext cx="205740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40" y="2212848"/>
            <a:ext cx="4572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800" b="1">
                <a:solidFill>
                  <a:srgbClr val="F06F2E"/>
                </a:solidFill>
                <a:latin typeface="Apto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761488"/>
            <a:ext cx="16459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700" b="1">
                <a:solidFill>
                  <a:srgbClr val="121821"/>
                </a:solidFill>
                <a:latin typeface="Aptos"/>
              </a:rPr>
              <a:t>Validación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3154680"/>
            <a:ext cx="1664208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300" b="0">
                <a:solidFill>
                  <a:srgbClr val="565E6C"/>
                </a:solidFill>
                <a:latin typeface="Aptos"/>
              </a:rPr>
              <a:t>Catálogo de servicios y activos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360" y="2057400"/>
            <a:ext cx="205740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0" y="2212848"/>
            <a:ext cx="4572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800" b="1">
                <a:solidFill>
                  <a:srgbClr val="F06F2E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2761488"/>
            <a:ext cx="16459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700" b="1">
                <a:solidFill>
                  <a:srgbClr val="121821"/>
                </a:solidFill>
                <a:latin typeface="Aptos"/>
              </a:rPr>
              <a:t>Clasificación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154680"/>
            <a:ext cx="1664208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300" b="0">
                <a:solidFill>
                  <a:srgbClr val="565E6C"/>
                </a:solidFill>
                <a:latin typeface="Aptos"/>
              </a:rPr>
              <a:t>Reglas explicables de prioridad e impacto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2057400"/>
            <a:ext cx="205740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2212848"/>
            <a:ext cx="4572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800" b="1">
                <a:solidFill>
                  <a:srgbClr val="F06F2E"/>
                </a:solidFill>
                <a:latin typeface="Apto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2761488"/>
            <a:ext cx="16459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700" b="1">
                <a:solidFill>
                  <a:srgbClr val="121821"/>
                </a:solidFill>
                <a:latin typeface="Aptos"/>
              </a:rPr>
              <a:t>Gestión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3154680"/>
            <a:ext cx="1664208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300" b="0">
                <a:solidFill>
                  <a:srgbClr val="565E6C"/>
                </a:solidFill>
                <a:latin typeface="Aptos"/>
              </a:rPr>
              <a:t>Aprobación, escalado, estado y SLA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46920" y="2057400"/>
            <a:ext cx="205740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2212848"/>
            <a:ext cx="4572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800" b="1">
                <a:solidFill>
                  <a:srgbClr val="F06F2E"/>
                </a:solidFill>
                <a:latin typeface="Aptos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2761488"/>
            <a:ext cx="16459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700" b="1">
                <a:solidFill>
                  <a:srgbClr val="121821"/>
                </a:solidFill>
                <a:latin typeface="Aptos"/>
              </a:rPr>
              <a:t>Evidencia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3154680"/>
            <a:ext cx="1664208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300" b="0">
                <a:solidFill>
                  <a:srgbClr val="565E6C"/>
                </a:solidFill>
                <a:latin typeface="Aptos"/>
              </a:rPr>
              <a:t>Historial, métricas, CSV y satisfacción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983480"/>
            <a:ext cx="1033272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100" b="1">
                <a:solidFill>
                  <a:srgbClr val="121821"/>
                </a:solidFill>
                <a:latin typeface="Aptos"/>
              </a:rPr>
              <a:t>La API centraliza reglas, persistencia y seguridad. El portal y la Logic App son canales de entrada, no duplican lógica de negocio.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900" b="0">
                <a:solidFill>
                  <a:srgbClr val="565E6C"/>
                </a:solidFill>
                <a:latin typeface="Aptos"/>
              </a:rPr>
              <a:t>Karima Drafli Rico · Universidad de Burgos · Defensa TFG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000" b="1">
                <a:solidFill>
                  <a:srgbClr val="565E6C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1">
                <a:solidFill>
                  <a:srgbClr val="565E6C"/>
                </a:solidFill>
                <a:latin typeface="Aptos"/>
              </a:rPr>
              <a:t>TFG · PLATAFORMA CLOUD DE SOLICITUDES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21821"/>
                </a:solidFill>
                <a:latin typeface="Aptos"/>
              </a:rPr>
              <a:t>Arquitectura desplegada en Microsoft Azure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17320"/>
            <a:ext cx="11155680" cy="18288"/>
          </a:xfrm>
          <a:prstGeom prst="rect">
            <a:avLst/>
          </a:prstGeom>
          <a:solidFill>
            <a:srgbClr val="D7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quitectura_final_az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400822"/>
            <a:ext cx="11064240" cy="27421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16168"/>
            <a:ext cx="107899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500" b="0">
                <a:solidFill>
                  <a:srgbClr val="565E6C"/>
                </a:solidFill>
                <a:latin typeface="Aptos"/>
              </a:rPr>
              <a:t>App Service aloja portal y API Flask · Blob Storage conserva solicitudes · Key Vault custodia secretos · Managed Identity evita credenciales en código · Logic App integra sistemas externos · Monitor aporta observabilidad.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900" b="0">
                <a:solidFill>
                  <a:srgbClr val="565E6C"/>
                </a:solidFill>
                <a:latin typeface="Aptos"/>
              </a:rPr>
              <a:t>Karima Drafli Rico · Universidad de Burgos · Defensa TFG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000" b="1">
                <a:solidFill>
                  <a:srgbClr val="565E6C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640080" y="1783080"/>
            <a:ext cx="5897880" cy="3840480"/>
          </a:xfrm>
          <a:prstGeom prst="rect">
            <a:avLst/>
          </a:prstGeom>
          <a:noFill/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1">
                <a:solidFill>
                  <a:srgbClr val="565E6C"/>
                </a:solidFill>
                <a:latin typeface="Aptos"/>
              </a:rPr>
              <a:t>TFG · PLATAFORMA CLOUD DE SOLICITUDES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21821"/>
                </a:solidFill>
                <a:latin typeface="Aptos"/>
              </a:rPr>
              <a:t>Funcionalidad empresarial implementada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17320"/>
            <a:ext cx="11155680" cy="18288"/>
          </a:xfrm>
          <a:prstGeom prst="rect">
            <a:avLst/>
          </a:prstGeom>
          <a:solidFill>
            <a:srgbClr val="D7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ortal-operaciones-satisfa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600" y="1783080"/>
            <a:ext cx="3298838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12280" y="1874519"/>
            <a:ext cx="4480560" cy="3611880"/>
          </a:xfrm>
          <a:prstGeom prst="rect">
            <a:avLst/>
          </a:prstGeom>
          <a:noFill/>
        </p:spPr>
        <p:txBody>
          <a:bodyPr wrap="square" lIns="27432" rIns="27432">
            <a:norm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821"/>
                </a:solidFill>
                <a:latin typeface="Aptos"/>
              </a:defRPr>
            </a:pPr>
            <a:r>
              <a:t>Registro de solicitudes con catálogo de servicios, activos y entornos.</a:t>
            </a:r>
          </a:p>
          <a:p>
            <a:pPr>
              <a:spcAft>
                <a:spcPts val="800"/>
              </a:spcAft>
              <a:defRPr sz="1800">
                <a:solidFill>
                  <a:srgbClr val="121821"/>
                </a:solidFill>
                <a:latin typeface="Aptos"/>
              </a:defRPr>
            </a:pPr>
            <a:r>
              <a:t>Clasificación ligera y explicable: prioridad, categoría, impacto y recomendación.</a:t>
            </a:r>
          </a:p>
          <a:p>
            <a:pPr>
              <a:spcAft>
                <a:spcPts val="800"/>
              </a:spcAft>
              <a:defRPr sz="1800">
                <a:solidFill>
                  <a:srgbClr val="121821"/>
                </a:solidFill>
                <a:latin typeface="Aptos"/>
              </a:defRPr>
            </a:pPr>
            <a:r>
              <a:t>Aprobación de solicitudes sensibles, escalado y trazabilidad en historial.</a:t>
            </a:r>
          </a:p>
          <a:p>
            <a:pPr>
              <a:spcAft>
                <a:spcPts val="800"/>
              </a:spcAft>
              <a:defRPr sz="1800">
                <a:solidFill>
                  <a:srgbClr val="121821"/>
                </a:solidFill>
                <a:latin typeface="Aptos"/>
              </a:defRPr>
            </a:pPr>
            <a:r>
              <a:t>Centro operativo: SLA vencido, carga por responsable, métricas y satisfacción.</a:t>
            </a:r>
          </a:p>
          <a:p>
            <a:pPr>
              <a:spcAft>
                <a:spcPts val="800"/>
              </a:spcAft>
              <a:defRPr sz="1800">
                <a:solidFill>
                  <a:srgbClr val="121821"/>
                </a:solidFill>
                <a:latin typeface="Aptos"/>
              </a:defRPr>
            </a:pPr>
            <a:r>
              <a:t>Exportación CSV y escenario de demostración idempotente.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900" b="0">
                <a:solidFill>
                  <a:srgbClr val="565E6C"/>
                </a:solidFill>
                <a:latin typeface="Aptos"/>
              </a:rPr>
              <a:t>Karima Drafli Rico · Universidad de Burgos · Defensa TFG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000" b="1">
                <a:solidFill>
                  <a:srgbClr val="565E6C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1">
                <a:solidFill>
                  <a:srgbClr val="565E6C"/>
                </a:solidFill>
                <a:latin typeface="Aptos"/>
              </a:rPr>
              <a:t>TFG · PLATAFORMA CLOUD DE SOLICITUDES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21821"/>
                </a:solidFill>
                <a:latin typeface="Aptos"/>
              </a:rPr>
              <a:t>Seguridad y diseño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17320"/>
            <a:ext cx="11155680" cy="18288"/>
          </a:xfrm>
          <a:prstGeom prst="rect">
            <a:avLst/>
          </a:prstGeom>
          <a:solidFill>
            <a:srgbClr val="D7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246888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975104"/>
            <a:ext cx="213969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800" b="1">
                <a:solidFill>
                  <a:srgbClr val="1F6FEB"/>
                </a:solidFill>
                <a:latin typeface="Aptos"/>
              </a:rPr>
              <a:t>Key Vault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487168"/>
            <a:ext cx="2139696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300" b="0">
                <a:solidFill>
                  <a:srgbClr val="565E6C"/>
                </a:solidFill>
                <a:latin typeface="Aptos"/>
              </a:rPr>
              <a:t>Secreto api-key fuera del repositorio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828800"/>
            <a:ext cx="283464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85032" y="1975104"/>
            <a:ext cx="250545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800" b="1">
                <a:solidFill>
                  <a:srgbClr val="1F6FEB"/>
                </a:solidFill>
                <a:latin typeface="Aptos"/>
              </a:rPr>
              <a:t>Managed Identity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5032" y="2487168"/>
            <a:ext cx="2505456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300" b="0">
                <a:solidFill>
                  <a:srgbClr val="565E6C"/>
                </a:solidFill>
                <a:latin typeface="Aptos"/>
              </a:rPr>
              <a:t>App Service accede sin credenciales intermedias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828800"/>
            <a:ext cx="233172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85431" y="1975104"/>
            <a:ext cx="200253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800" b="1">
                <a:solidFill>
                  <a:srgbClr val="1F6FEB"/>
                </a:solidFill>
                <a:latin typeface="Aptos"/>
              </a:rPr>
              <a:t>Bearer token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5431" y="2487168"/>
            <a:ext cx="2002536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300" b="0">
                <a:solidFill>
                  <a:srgbClr val="565E6C"/>
                </a:solidFill>
                <a:latin typeface="Aptos"/>
              </a:rPr>
              <a:t>Endpoints de gestión protegidos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72600" y="1828800"/>
            <a:ext cx="201168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37192" y="1975104"/>
            <a:ext cx="168249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800" b="1">
                <a:solidFill>
                  <a:srgbClr val="1F6FEB"/>
                </a:solidFill>
                <a:latin typeface="Aptos"/>
              </a:rPr>
              <a:t>HTTPS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37192" y="2487168"/>
            <a:ext cx="1682496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300" b="0">
                <a:solidFill>
                  <a:srgbClr val="565E6C"/>
                </a:solidFill>
                <a:latin typeface="Aptos"/>
              </a:rPr>
              <a:t>Comunicación pública cifrada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703320"/>
            <a:ext cx="10698480" cy="1371600"/>
          </a:xfrm>
          <a:prstGeom prst="roundRect">
            <a:avLst/>
          </a:prstGeom>
          <a:solidFill>
            <a:srgbClr val="F1F4F8"/>
          </a:solidFill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913632"/>
            <a:ext cx="292608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000" b="1">
                <a:solidFill>
                  <a:srgbClr val="121821"/>
                </a:solidFill>
                <a:latin typeface="Aptos"/>
              </a:rPr>
              <a:t>Diseño documental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343400"/>
            <a:ext cx="97840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700" b="0">
                <a:solidFill>
                  <a:srgbClr val="121821"/>
                </a:solidFill>
                <a:latin typeface="Aptos"/>
              </a:rPr>
              <a:t>Cada solicitud se almacena como JSON semiestructurado con identificador, contexto, estado, SLA, aprobación, escalado, valoración e historial 1..N. El portal y la Logic App no acceden directamente al blob; toda modificación pasa por la API.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349240"/>
            <a:ext cx="98755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500" b="0">
                <a:solidFill>
                  <a:srgbClr val="565E6C"/>
                </a:solidFill>
                <a:latin typeface="Aptos"/>
              </a:rPr>
              <a:t>Limitación defendida: el prototipo usa un único blob JSON; en producción se evolucionaría a ETag/If-Match o a una base de datos con control transaccional.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900" b="0">
                <a:solidFill>
                  <a:srgbClr val="565E6C"/>
                </a:solidFill>
                <a:latin typeface="Aptos"/>
              </a:rPr>
              <a:t>Karima Drafli Rico · Universidad de Burgos · Defensa TFG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000" b="1">
                <a:solidFill>
                  <a:srgbClr val="565E6C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640080" y="1783080"/>
            <a:ext cx="5577840" cy="3749039"/>
          </a:xfrm>
          <a:prstGeom prst="rect">
            <a:avLst/>
          </a:prstGeom>
          <a:noFill/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1">
                <a:solidFill>
                  <a:srgbClr val="565E6C"/>
                </a:solidFill>
                <a:latin typeface="Aptos"/>
              </a:rPr>
              <a:t>TFG · PLATAFORMA CLOUD DE SOLICITUDES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21821"/>
                </a:solidFill>
                <a:latin typeface="Aptos"/>
              </a:rPr>
              <a:t>Proceso: planificación, código y calidad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17320"/>
            <a:ext cx="11155680" cy="18288"/>
          </a:xfrm>
          <a:prstGeom prst="rect">
            <a:avLst/>
          </a:prstGeom>
          <a:solidFill>
            <a:srgbClr val="D7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zube_sprints_final_132_story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781" y="1783080"/>
            <a:ext cx="3390436" cy="374903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629400" y="1783080"/>
            <a:ext cx="214884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93992" y="1929384"/>
            <a:ext cx="181965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800" b="1">
                <a:solidFill>
                  <a:srgbClr val="F06F2E"/>
                </a:solidFill>
                <a:latin typeface="Aptos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93992" y="2441448"/>
            <a:ext cx="1819656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300" b="0">
                <a:solidFill>
                  <a:srgbClr val="565E6C"/>
                </a:solidFill>
                <a:latin typeface="Aptos"/>
              </a:rPr>
              <a:t>sprints cerrados en Zube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9720" y="1783080"/>
            <a:ext cx="214884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54312" y="1929384"/>
            <a:ext cx="181965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800" b="1">
                <a:solidFill>
                  <a:srgbClr val="F06F2E"/>
                </a:solidFill>
                <a:latin typeface="Aptos"/>
              </a:rPr>
              <a:t>132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54312" y="2441448"/>
            <a:ext cx="1819656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300" b="0">
                <a:solidFill>
                  <a:srgbClr val="565E6C"/>
                </a:solidFill>
                <a:latin typeface="Aptos"/>
              </a:rPr>
              <a:t>puntos estimados de backlog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3246120"/>
            <a:ext cx="214884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3392424"/>
            <a:ext cx="181965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800" b="1">
                <a:solidFill>
                  <a:srgbClr val="1B8855"/>
                </a:solidFill>
                <a:latin typeface="Aptos"/>
              </a:rPr>
              <a:t>114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3992" y="3904487"/>
            <a:ext cx="1819656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300" b="0">
                <a:solidFill>
                  <a:srgbClr val="565E6C"/>
                </a:solidFill>
                <a:latin typeface="Aptos"/>
              </a:rPr>
              <a:t>puntos cerrados registrados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20" y="3246120"/>
            <a:ext cx="214884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54312" y="3392424"/>
            <a:ext cx="181965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800" b="1">
                <a:solidFill>
                  <a:srgbClr val="1B8855"/>
                </a:solidFill>
                <a:latin typeface="Aptos"/>
              </a:rPr>
              <a:t>218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54312" y="3904487"/>
            <a:ext cx="1819656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300" b="0">
                <a:solidFill>
                  <a:srgbClr val="565E6C"/>
                </a:solidFill>
                <a:latin typeface="Aptos"/>
              </a:rPr>
              <a:t>commits en main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828032"/>
            <a:ext cx="466344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600" b="0">
                <a:solidFill>
                  <a:srgbClr val="565E6C"/>
                </a:solidFill>
                <a:latin typeface="Aptos"/>
              </a:rPr>
              <a:t>El Sprint 3 conserva 18 puntos retirados por replanificación; no se oculta el cambio de alcance. La evolución se justifica con Zube, commits, releases y evidencias.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900" b="0">
                <a:solidFill>
                  <a:srgbClr val="565E6C"/>
                </a:solidFill>
                <a:latin typeface="Aptos"/>
              </a:rPr>
              <a:t>Karima Drafli Rico · Universidad de Burgos · Defensa TFG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000" b="1">
                <a:solidFill>
                  <a:srgbClr val="565E6C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640080" y="1828800"/>
            <a:ext cx="5212080" cy="3200400"/>
          </a:xfrm>
          <a:prstGeom prst="rect">
            <a:avLst/>
          </a:prstGeom>
          <a:noFill/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1">
                <a:solidFill>
                  <a:srgbClr val="565E6C"/>
                </a:solidFill>
                <a:latin typeface="Aptos"/>
              </a:rPr>
              <a:t>TFG · PLATAFORMA CLOUD DE SOLICITUDES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21821"/>
                </a:solidFill>
                <a:latin typeface="Aptos"/>
              </a:rPr>
              <a:t>Validación técnica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17320"/>
            <a:ext cx="11155680" cy="18288"/>
          </a:xfrm>
          <a:prstGeom prst="rect">
            <a:avLst/>
          </a:prstGeom>
          <a:solidFill>
            <a:srgbClr val="D7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onarcloud-quality-gate-final-23jun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0765" y="1828800"/>
            <a:ext cx="2810708" cy="3200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63640" y="1828800"/>
            <a:ext cx="256032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1" y="1975104"/>
            <a:ext cx="223113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800" b="1">
                <a:solidFill>
                  <a:srgbClr val="1B8855"/>
                </a:solidFill>
                <a:latin typeface="Aptos"/>
              </a:rPr>
              <a:t>26/26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8231" y="2487168"/>
            <a:ext cx="2231136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300" b="0">
                <a:solidFill>
                  <a:srgbClr val="565E6C"/>
                </a:solidFill>
                <a:latin typeface="Aptos"/>
              </a:rPr>
              <a:t>pruebas automáticas superadas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828800"/>
            <a:ext cx="219456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08592" y="1975104"/>
            <a:ext cx="186537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800" b="1">
                <a:solidFill>
                  <a:srgbClr val="1B8855"/>
                </a:solidFill>
                <a:latin typeface="Aptos"/>
              </a:rPr>
              <a:t>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08592" y="2487168"/>
            <a:ext cx="1865376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300" b="0">
                <a:solidFill>
                  <a:srgbClr val="565E6C"/>
                </a:solidFill>
                <a:latin typeface="Aptos"/>
              </a:rPr>
              <a:t>Quality Gate SonarCloud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273552"/>
            <a:ext cx="256032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1" y="3419856"/>
            <a:ext cx="223113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800" b="1">
                <a:solidFill>
                  <a:srgbClr val="1B8855"/>
                </a:solidFill>
                <a:latin typeface="Aptos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3931920"/>
            <a:ext cx="2231136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300" b="0">
                <a:solidFill>
                  <a:srgbClr val="565E6C"/>
                </a:solidFill>
                <a:latin typeface="Aptos"/>
              </a:rPr>
              <a:t>issues abiertos actuales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3273552"/>
            <a:ext cx="219456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08592" y="3419856"/>
            <a:ext cx="186537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800" b="1">
                <a:solidFill>
                  <a:srgbClr val="1B8855"/>
                </a:solidFill>
                <a:latin typeface="Aptos"/>
              </a:rPr>
              <a:t>0.0%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08592" y="3931920"/>
            <a:ext cx="1865376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300" b="0">
                <a:solidFill>
                  <a:srgbClr val="565E6C"/>
                </a:solidFill>
                <a:latin typeface="Aptos"/>
              </a:rPr>
              <a:t>duplicación en nuevo código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828032"/>
            <a:ext cx="470916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600" b="0">
                <a:solidFill>
                  <a:srgbClr val="565E6C"/>
                </a:solidFill>
                <a:latin typeface="Aptos"/>
              </a:rPr>
              <a:t>Comprobación pública del despliegue: /health responde estado ok y storage_mode azure. Las operaciones protegidas requieren token Bearer entregado fuera del repositorio.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900" b="0">
                <a:solidFill>
                  <a:srgbClr val="565E6C"/>
                </a:solidFill>
                <a:latin typeface="Aptos"/>
              </a:rPr>
              <a:t>Karima Drafli Rico · Universidad de Burgos · Defensa TFG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000" b="1">
                <a:solidFill>
                  <a:srgbClr val="565E6C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1">
                <a:solidFill>
                  <a:srgbClr val="565E6C"/>
                </a:solidFill>
                <a:latin typeface="Aptos"/>
              </a:rPr>
              <a:t>TFG · PLATAFORMA CLOUD DE SOLICITUDES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21821"/>
                </a:solidFill>
                <a:latin typeface="Aptos"/>
              </a:rPr>
              <a:t>Recorrido recomendado para la demostración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17320"/>
            <a:ext cx="11155680" cy="18288"/>
          </a:xfrm>
          <a:prstGeom prst="rect">
            <a:avLst/>
          </a:prstGeom>
          <a:solidFill>
            <a:srgbClr val="D7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5303520" cy="4297680"/>
          </a:xfrm>
          <a:prstGeom prst="rect">
            <a:avLst/>
          </a:prstGeom>
          <a:noFill/>
        </p:spPr>
        <p:txBody>
          <a:bodyPr wrap="square" lIns="27432" rIns="27432">
            <a:norm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21821"/>
                </a:solidFill>
                <a:latin typeface="Aptos"/>
              </a:defRPr>
            </a:pPr>
            <a:r>
              <a:t>1. Abrir /health y confirmar estado ok.</a:t>
            </a:r>
          </a:p>
          <a:p>
            <a:pPr>
              <a:spcAft>
                <a:spcPts val="800"/>
              </a:spcAft>
              <a:defRPr sz="2000">
                <a:solidFill>
                  <a:srgbClr val="121821"/>
                </a:solidFill>
                <a:latin typeface="Aptos"/>
              </a:defRPr>
            </a:pPr>
            <a:r>
              <a:t>2. Registrar una solicitud sensible desde el portal.</a:t>
            </a:r>
          </a:p>
          <a:p>
            <a:pPr>
              <a:spcAft>
                <a:spcPts val="800"/>
              </a:spcAft>
              <a:defRPr sz="2000">
                <a:solidFill>
                  <a:srgbClr val="121821"/>
                </a:solidFill>
                <a:latin typeface="Aptos"/>
              </a:defRPr>
            </a:pPr>
            <a:r>
              <a:t>3. Cargar bandeja TI con token de Key Vault.</a:t>
            </a:r>
          </a:p>
          <a:p>
            <a:pPr>
              <a:spcAft>
                <a:spcPts val="800"/>
              </a:spcAft>
              <a:defRPr sz="2000">
                <a:solidFill>
                  <a:srgbClr val="121821"/>
                </a:solidFill>
                <a:latin typeface="Aptos"/>
              </a:defRPr>
            </a:pPr>
            <a:r>
              <a:t>4. Aprobar o escalar y mostrar historial.</a:t>
            </a:r>
          </a:p>
          <a:p>
            <a:pPr>
              <a:spcAft>
                <a:spcPts val="800"/>
              </a:spcAft>
              <a:defRPr sz="2000">
                <a:solidFill>
                  <a:srgbClr val="121821"/>
                </a:solidFill>
                <a:latin typeface="Aptos"/>
              </a:defRPr>
            </a:pPr>
            <a:r>
              <a:t>5. Revisar centro operativo, SLA y CSV.</a:t>
            </a:r>
          </a:p>
          <a:p>
            <a:pPr>
              <a:spcAft>
                <a:spcPts val="800"/>
              </a:spcAft>
              <a:defRPr sz="2000">
                <a:solidFill>
                  <a:srgbClr val="121821"/>
                </a:solidFill>
                <a:latin typeface="Aptos"/>
              </a:defRPr>
            </a:pPr>
            <a:r>
              <a:t>6. Mostrar ejecución correcta de Logic App.</a:t>
            </a:r>
          </a:p>
          <a:p>
            <a:pPr>
              <a:spcAft>
                <a:spcPts val="800"/>
              </a:spcAft>
              <a:defRPr sz="2000">
                <a:solidFill>
                  <a:srgbClr val="121821"/>
                </a:solidFill>
                <a:latin typeface="Aptos"/>
              </a:defRPr>
            </a:pPr>
            <a:r>
              <a:t>7. Cerrar con SonarCloud, Zube y release v1.1.0.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1874519"/>
            <a:ext cx="4434840" cy="3337560"/>
          </a:xfrm>
          <a:prstGeom prst="roundRect">
            <a:avLst/>
          </a:prstGeom>
          <a:solidFill>
            <a:srgbClr val="F1F4F8"/>
          </a:solidFill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2194560"/>
            <a:ext cx="3749039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900" b="1">
                <a:solidFill>
                  <a:srgbClr val="1F6FEB"/>
                </a:solidFill>
                <a:latin typeface="Aptos"/>
              </a:rPr>
              <a:t>Mensaje que debe quedar claro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31152" y="2697480"/>
            <a:ext cx="3657600" cy="1417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21821"/>
                </a:solidFill>
                <a:latin typeface="Aptos"/>
              </a:rPr>
              <a:t>No es solo un gestor de tickets: es una solución cloud segura que automatiza entrada, clasificación, aprobación, seguimiento de SLA, trazabilidad, calidad y observabilidad.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152" y="4617720"/>
            <a:ext cx="37033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500" b="0">
                <a:solidFill>
                  <a:srgbClr val="565E6C"/>
                </a:solidFill>
                <a:latin typeface="Aptos"/>
              </a:rPr>
              <a:t>No mostrar tokens, URLs firmadas ni valores completos de secretos.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900" b="0">
                <a:solidFill>
                  <a:srgbClr val="565E6C"/>
                </a:solidFill>
                <a:latin typeface="Aptos"/>
              </a:rPr>
              <a:t>Karima Drafli Rico · Universidad de Burgos · Defensa TFG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000" b="1">
                <a:solidFill>
                  <a:srgbClr val="565E6C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7909560" y="1508760"/>
            <a:ext cx="3017520" cy="4526280"/>
          </a:xfrm>
          <a:prstGeom prst="rect">
            <a:avLst/>
          </a:prstGeom>
          <a:noFill/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1">
                <a:solidFill>
                  <a:srgbClr val="565E6C"/>
                </a:solidFill>
                <a:latin typeface="Aptos"/>
              </a:rPr>
              <a:t>TFG · PLATAFORMA CLOUD DE SOLICITUDES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21821"/>
                </a:solidFill>
                <a:latin typeface="Aptos"/>
              </a:rPr>
              <a:t>Conclusiones y evolución futura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17320"/>
            <a:ext cx="11155680" cy="18288"/>
          </a:xfrm>
          <a:prstGeom prst="rect">
            <a:avLst/>
          </a:prstGeom>
          <a:solidFill>
            <a:srgbClr val="D7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6400800" cy="3657600"/>
          </a:xfrm>
          <a:prstGeom prst="rect">
            <a:avLst/>
          </a:prstGeom>
          <a:noFill/>
        </p:spPr>
        <p:txBody>
          <a:bodyPr wrap="square" lIns="27432" rIns="27432">
            <a:norm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21821"/>
                </a:solidFill>
                <a:latin typeface="Aptos"/>
              </a:defRPr>
            </a:pPr>
            <a:r>
              <a:t>Objetivo cumplido: prototipo funcional desplegado en Azure y evaluable desde navegador.</a:t>
            </a:r>
          </a:p>
          <a:p>
            <a:pPr>
              <a:spcAft>
                <a:spcPts val="800"/>
              </a:spcAft>
              <a:defRPr sz="2000">
                <a:solidFill>
                  <a:srgbClr val="121821"/>
                </a:solidFill>
                <a:latin typeface="Aptos"/>
              </a:defRPr>
            </a:pPr>
            <a:r>
              <a:t>Automatización empresarial: portal + Logic App + flujo de aprobación y SLA.</a:t>
            </a:r>
          </a:p>
          <a:p>
            <a:pPr>
              <a:spcAft>
                <a:spcPts val="800"/>
              </a:spcAft>
              <a:defRPr sz="2000">
                <a:solidFill>
                  <a:srgbClr val="121821"/>
                </a:solidFill>
                <a:latin typeface="Aptos"/>
              </a:defRPr>
            </a:pPr>
            <a:r>
              <a:t>Seguridad aplicada: Key Vault, Managed Identity, HTTPS y endpoints protegidos.</a:t>
            </a:r>
          </a:p>
          <a:p>
            <a:pPr>
              <a:spcAft>
                <a:spcPts val="800"/>
              </a:spcAft>
              <a:defRPr sz="2000">
                <a:solidFill>
                  <a:srgbClr val="121821"/>
                </a:solidFill>
                <a:latin typeface="Aptos"/>
              </a:defRPr>
            </a:pPr>
            <a:r>
              <a:t>Calidad demostrable: pruebas automáticas, SonarCloud, evidencias y documentación LaTeX.</a:t>
            </a:r>
          </a:p>
          <a:p>
            <a:pPr>
              <a:spcAft>
                <a:spcPts val="800"/>
              </a:spcAft>
              <a:defRPr sz="2000">
                <a:solidFill>
                  <a:srgbClr val="121821"/>
                </a:solidFill>
                <a:latin typeface="Aptos"/>
              </a:defRPr>
            </a:pPr>
            <a:r>
              <a:t>Evolución: Microsoft Entra ID, control de concurrencia, base de datos transaccional y notificaciones reales.</a:t>
            </a:r>
          </a:p>
        </p:txBody>
      </p:sp>
      <p:pic>
        <p:nvPicPr>
          <p:cNvPr id="6" name="Picture 5" descr="cartel-a3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2737576"/>
            <a:ext cx="3017520" cy="206864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900" b="0">
                <a:solidFill>
                  <a:srgbClr val="565E6C"/>
                </a:solidFill>
                <a:latin typeface="Aptos"/>
              </a:rPr>
              <a:t>Karima Drafli Rico · Universidad de Burgos · Defensa TFG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000" b="1">
                <a:solidFill>
                  <a:srgbClr val="565E6C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1">
                <a:solidFill>
                  <a:srgbClr val="565E6C"/>
                </a:solidFill>
                <a:latin typeface="Aptos"/>
              </a:rPr>
              <a:t>TFG · PLATAFORMA CLOUD DE SOLICITUDES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21821"/>
                </a:solidFill>
                <a:latin typeface="Aptos"/>
              </a:rPr>
              <a:t>Preguntas previsibles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17320"/>
            <a:ext cx="11155680" cy="18288"/>
          </a:xfrm>
          <a:prstGeom prst="rect">
            <a:avLst/>
          </a:prstGeom>
          <a:solidFill>
            <a:srgbClr val="D7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1037844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810512"/>
            <a:ext cx="36576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600" b="1">
                <a:solidFill>
                  <a:srgbClr val="1F6FEB"/>
                </a:solidFill>
                <a:latin typeface="Aptos"/>
              </a:rPr>
              <a:t>¿Por qué Flask y no Django?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10512"/>
            <a:ext cx="621792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500" b="0">
                <a:solidFill>
                  <a:srgbClr val="121821"/>
                </a:solidFill>
                <a:latin typeface="Aptos"/>
              </a:rPr>
              <a:t>API ligera y portal compacto; no se necesitaba ORM ni panel administrativo completo.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51760"/>
            <a:ext cx="1037844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770632"/>
            <a:ext cx="36576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600" b="1">
                <a:solidFill>
                  <a:srgbClr val="1F6FEB"/>
                </a:solidFill>
                <a:latin typeface="Aptos"/>
              </a:rPr>
              <a:t>¿Por qué un único blob JSON?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770632"/>
            <a:ext cx="621792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500" b="0">
                <a:solidFill>
                  <a:srgbClr val="121821"/>
                </a:solidFill>
                <a:latin typeface="Aptos"/>
              </a:rPr>
              <a:t>Suficiente para prototipo de bajo volumen; en producción se usarían ETag o BD transaccional.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611880"/>
            <a:ext cx="1037844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730752"/>
            <a:ext cx="36576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600" b="1">
                <a:solidFill>
                  <a:srgbClr val="1F6FEB"/>
                </a:solidFill>
                <a:latin typeface="Aptos"/>
              </a:rPr>
              <a:t>¿Es IA avanzada?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730752"/>
            <a:ext cx="621792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500" b="0">
                <a:solidFill>
                  <a:srgbClr val="121821"/>
                </a:solidFill>
                <a:latin typeface="Aptos"/>
              </a:rPr>
              <a:t>No. Es clasificación ligera y explicable basada en reglas de negocio.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572000"/>
            <a:ext cx="1037844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4690872"/>
            <a:ext cx="36576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600" b="1">
                <a:solidFill>
                  <a:srgbClr val="1F6FEB"/>
                </a:solidFill>
                <a:latin typeface="Aptos"/>
              </a:rPr>
              <a:t>¿Por qué sprints desiguales?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690872"/>
            <a:ext cx="621792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500" b="0">
                <a:solidFill>
                  <a:srgbClr val="121821"/>
                </a:solidFill>
                <a:latin typeface="Aptos"/>
              </a:rPr>
              <a:t>Los primeros fueron de base; los siguientes concentraron Azure, LaTeX, evidencias y cierre.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900" b="0">
                <a:solidFill>
                  <a:srgbClr val="565E6C"/>
                </a:solidFill>
                <a:latin typeface="Aptos"/>
              </a:rPr>
              <a:t>Karima Drafli Rico · Universidad de Burgos · Defensa TFG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000" b="1">
                <a:solidFill>
                  <a:srgbClr val="565E6C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