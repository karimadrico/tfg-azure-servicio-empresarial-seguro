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6" roundtripDataSignature="AMtx7mheqSgm5fW5ZIDsmmyTZFHJIJHM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F7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1230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594360" y="384048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Fin de Grado · Universidad de Burgos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85800" y="1508760"/>
            <a:ext cx="7498079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Cloud Computing: Análisis, Diseño y Despliegue de un Servicio Empresarial Seguro en Microsoft Azure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713227" y="3063250"/>
            <a:ext cx="4585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Plataforma cloud para automatizar solicitudes TI con portal web, API Flask, Cosmos DB, Key Vault, Logic App, Zube y SonarCloud.</a:t>
            </a:r>
            <a:endParaRPr/>
          </a:p>
        </p:txBody>
      </p:sp>
      <p:pic>
        <p:nvPicPr>
          <p:cNvPr descr="arquitectura_integral_tfg_azure.png"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03450" y="2540550"/>
            <a:ext cx="6197076" cy="348585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3232" y="6291072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Karima Drafli Rico · Grado en Ingeniería Informática Online · Curso 2025-2026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Problema y objetivo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Automatización segura de solicitudes internas de TI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1508760"/>
            <a:ext cx="475488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Solicitudes repartidas entre correos, chats y hojas de cálculo.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Dificultad para priorizar, aprobar y medir el trabajo del equipo TI.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Necesidad de separar secretos, automatizar entradas y mantener trazabilidad.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Objetivo: construir un prototipo funcional desplegado y validado en Azure.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5897880" y="1508760"/>
            <a:ext cx="5303520" cy="10058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062472" y="161848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Resultado entregado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6062472" y="2011680"/>
            <a:ext cx="49743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Portal + API + reglas + Cosmos DB + Key Vault + Logic App + observabilidad.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5897880" y="2788920"/>
            <a:ext cx="5303520" cy="10058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F28B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062472" y="289864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28B00"/>
                </a:solidFill>
                <a:latin typeface="Calibri"/>
                <a:ea typeface="Calibri"/>
                <a:cs typeface="Calibri"/>
                <a:sym typeface="Calibri"/>
              </a:rPr>
              <a:t>Alcance honesto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062472" y="3291839"/>
            <a:ext cx="49743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No sustituye a un ITSM comercial; demuestra una solución cloud empresarial completa y defendible.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5897880" y="4069080"/>
            <a:ext cx="5303520" cy="10058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695B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062472" y="417880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95BD0"/>
                </a:solidFill>
                <a:latin typeface="Calibri"/>
                <a:ea typeface="Calibri"/>
                <a:cs typeface="Calibri"/>
                <a:sym typeface="Calibri"/>
              </a:rPr>
              <a:t>Evidencias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062472" y="4572000"/>
            <a:ext cx="49743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27 pruebas, SonarCloud OK, Zube con 6 sprints, release v1.2.0 y despliegue real.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15" name="Google Shape;115;p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Arquitectura final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Servicios Azure y herramientas de proceso</a:t>
            </a:r>
            <a:endParaRPr/>
          </a:p>
        </p:txBody>
      </p:sp>
      <p:pic>
        <p:nvPicPr>
          <p:cNvPr descr="arquitectura_integral_tfg_azure.png" id="117" name="Google Shape;1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1000" y="1234440"/>
            <a:ext cx="8859520" cy="4983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A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Producto funcional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Portal web, bandeja TI y centro operativo</a:t>
            </a:r>
            <a:endParaRPr/>
          </a:p>
        </p:txBody>
      </p:sp>
      <p:pic>
        <p:nvPicPr>
          <p:cNvPr descr="portal-solicitud-enviada.png" id="126" name="Google Shape;1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3432" y="1234440"/>
            <a:ext cx="2885134" cy="2011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olicitud-portal-gestionTI-tokenkeyvault.png" id="127" name="Google Shape;12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3400" y="1383729"/>
            <a:ext cx="3566160" cy="1713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ortal-centro-operativo-sla.png" id="128" name="Google Shape;12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3879" y="1354473"/>
            <a:ext cx="3474720" cy="1771613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731520" y="3749039"/>
            <a:ext cx="3200400" cy="12344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78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896112" y="3858768"/>
            <a:ext cx="28712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78D4"/>
                </a:solidFill>
                <a:latin typeface="Calibri"/>
                <a:ea typeface="Calibri"/>
                <a:cs typeface="Calibri"/>
                <a:sym typeface="Calibri"/>
              </a:rPr>
              <a:t>Registro</a:t>
            </a:r>
            <a:endParaRPr/>
          </a:p>
        </p:txBody>
      </p:sp>
      <p:sp>
        <p:nvSpPr>
          <p:cNvPr id="131" name="Google Shape;131;p4"/>
          <p:cNvSpPr txBox="1"/>
          <p:nvPr/>
        </p:nvSpPr>
        <p:spPr>
          <a:xfrm>
            <a:off x="896112" y="4251959"/>
            <a:ext cx="287121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Validación, clasificación, prioridad, impacto, responsable y SLA.</a:t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4526280" y="3749039"/>
            <a:ext cx="3200400" cy="12344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4690872" y="3858768"/>
            <a:ext cx="28712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Gestión TI</a:t>
            </a:r>
            <a:endParaRPr/>
          </a:p>
        </p:txBody>
      </p:sp>
      <p:sp>
        <p:nvSpPr>
          <p:cNvPr id="134" name="Google Shape;134;p4"/>
          <p:cNvSpPr txBox="1"/>
          <p:nvPr/>
        </p:nvSpPr>
        <p:spPr>
          <a:xfrm>
            <a:off x="4690872" y="4251959"/>
            <a:ext cx="287121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Token Bearer, filtros, detalle, aprobación, escalado y cierre.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8321040" y="3749039"/>
            <a:ext cx="3017520" cy="12344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F28B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8485632" y="3858768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28B00"/>
                </a:solidFill>
                <a:latin typeface="Calibri"/>
                <a:ea typeface="Calibri"/>
                <a:cs typeface="Calibri"/>
                <a:sym typeface="Calibri"/>
              </a:rPr>
              <a:t>Operación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8485632" y="4251959"/>
            <a:ext cx="268833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Carga, SLA vencido, alertas, métricas y satisfacción.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95BD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Datos y seguridad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Evolución desde Blob Storage a Cosmos DB</a:t>
            </a:r>
            <a:endParaRPr/>
          </a:p>
        </p:txBody>
      </p:sp>
      <p:pic>
        <p:nvPicPr>
          <p:cNvPr descr="base-de-datos-azure-cosmos-db.png" id="146" name="Google Shape;14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2066" y="1325880"/>
            <a:ext cx="4113787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5"/>
          <p:cNvSpPr txBox="1"/>
          <p:nvPr/>
        </p:nvSpPr>
        <p:spPr>
          <a:xfrm>
            <a:off x="5989320" y="1417320"/>
            <a:ext cx="53949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Cosmos DB: cuenta cosmos-tfg-kdr-2026, BD tfg-solicitudes, contenedor solicitudes.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Partición /tipo_solicitud y documentos JSON independientes por solicitud.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Migración de 20 solicitudes existentes desde Blob Storage.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Key Vault conserva api-key y App Service accede mediante Managed Identity.</a:t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822960" y="4709160"/>
            <a:ext cx="10515600" cy="7772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 txBox="1"/>
          <p:nvPr/>
        </p:nvSpPr>
        <p:spPr>
          <a:xfrm>
            <a:off x="987552" y="4818888"/>
            <a:ext cx="101864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Validación real</a:t>
            </a:r>
            <a:endParaRPr/>
          </a:p>
        </p:txBody>
      </p:sp>
      <p:sp>
        <p:nvSpPr>
          <p:cNvPr id="150" name="Google Shape;150;p5"/>
          <p:cNvSpPr txBox="1"/>
          <p:nvPr/>
        </p:nvSpPr>
        <p:spPr>
          <a:xfrm>
            <a:off x="987552" y="5212080"/>
            <a:ext cx="10186416" cy="1828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/health confirma storage_mode: cosmos; la API crea, lista y calcula métricas sobre la persistencia final.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B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57" name="Google Shape;157;p6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Automatización e integración</a:t>
            </a:r>
            <a:endParaRPr/>
          </a:p>
        </p:txBody>
      </p:sp>
      <p:sp>
        <p:nvSpPr>
          <p:cNvPr id="158" name="Google Shape;158;p6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Logic App como entrada desde sistemas externos</a:t>
            </a:r>
            <a:endParaRPr/>
          </a:p>
        </p:txBody>
      </p:sp>
      <p:pic>
        <p:nvPicPr>
          <p:cNvPr descr="logic-app-created-request.png" id="159" name="Google Shape;15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300" y="1252724"/>
            <a:ext cx="5554077" cy="3324751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6"/>
          <p:cNvSpPr txBox="1"/>
          <p:nvPr/>
        </p:nvSpPr>
        <p:spPr>
          <a:xfrm>
            <a:off x="6309360" y="1325880"/>
            <a:ext cx="498348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Un sistema externo envía una petición HTTP a la Logic App.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La Logic App invoca POST /solicitudes en la API desplegada.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La API mantiene la responsabilidad de validar, clasificar y persistir.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El flujo permite automatización sin exponer Cosmos DB ni duplicar reglas.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Proceso de desarrollo</a:t>
            </a:r>
            <a:endParaRPr/>
          </a:p>
        </p:txBody>
      </p:sp>
      <p:sp>
        <p:nvSpPr>
          <p:cNvPr id="168" name="Google Shape;168;p7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Seis sprints, trazabilidad y release final</a:t>
            </a:r>
            <a:endParaRPr/>
          </a:p>
        </p:txBody>
      </p:sp>
      <p:pic>
        <p:nvPicPr>
          <p:cNvPr descr="sprints-total-6.png" id="169" name="Google Shape;1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1707" y="1234440"/>
            <a:ext cx="4903144" cy="3977639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 txBox="1"/>
          <p:nvPr/>
        </p:nvSpPr>
        <p:spPr>
          <a:xfrm>
            <a:off x="6537960" y="141732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6 sprints cerrados en Zube.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145 puntos estimados: 127 cerrados y 18 retirados/replanificados.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Sprint 6: mejora final de persistencia con Cosmos DB.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Release final v1.2.0 publicada en GitHub.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6583675" y="4754874"/>
            <a:ext cx="4389000" cy="90690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695B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 txBox="1"/>
          <p:nvPr/>
        </p:nvSpPr>
        <p:spPr>
          <a:xfrm>
            <a:off x="6748272" y="4864608"/>
            <a:ext cx="405993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95BD0"/>
                </a:solidFill>
                <a:latin typeface="Calibri"/>
                <a:ea typeface="Calibri"/>
                <a:cs typeface="Calibri"/>
                <a:sym typeface="Calibri"/>
              </a:rPr>
              <a:t>Buena práctica</a:t>
            </a:r>
            <a:endParaRPr/>
          </a:p>
        </p:txBody>
      </p:sp>
      <p:sp>
        <p:nvSpPr>
          <p:cNvPr id="173" name="Google Shape;173;p7"/>
          <p:cNvSpPr txBox="1"/>
          <p:nvPr/>
        </p:nvSpPr>
        <p:spPr>
          <a:xfrm>
            <a:off x="6748275" y="5184650"/>
            <a:ext cx="40599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El seguimiento se apoya en Zube, commits, releases, evidencias y pruebas.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A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80" name="Google Shape;180;p8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Calidad y validación</a:t>
            </a: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Pruebas, SonarCloud y verificación en Azure</a:t>
            </a:r>
            <a:endParaRPr/>
          </a:p>
        </p:txBody>
      </p:sp>
      <p:pic>
        <p:nvPicPr>
          <p:cNvPr descr="sonarcloud-quality-gate-final-30junio.png" id="182" name="Google Shape;1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075" y="1252727"/>
            <a:ext cx="2315025" cy="346130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/>
          <p:nvPr/>
        </p:nvSpPr>
        <p:spPr>
          <a:xfrm>
            <a:off x="6080760" y="132588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78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6245352" y="1435607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78D4"/>
                </a:solidFill>
                <a:latin typeface="Calibri"/>
                <a:ea typeface="Calibri"/>
                <a:cs typeface="Calibri"/>
                <a:sym typeface="Calibri"/>
              </a:rPr>
              <a:t>27 pruebas</a:t>
            </a:r>
            <a:endParaRPr/>
          </a:p>
        </p:txBody>
      </p:sp>
      <p:sp>
        <p:nvSpPr>
          <p:cNvPr id="185" name="Google Shape;185;p8"/>
          <p:cNvSpPr txBox="1"/>
          <p:nvPr/>
        </p:nvSpPr>
        <p:spPr>
          <a:xfrm>
            <a:off x="6245350" y="1737350"/>
            <a:ext cx="20481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unittest sobre API, reglas, seguridad, portal y persistencia.</a:t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8823960" y="132588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 txBox="1"/>
          <p:nvPr/>
        </p:nvSpPr>
        <p:spPr>
          <a:xfrm>
            <a:off x="8988552" y="1435607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SonarCloud</a:t>
            </a:r>
            <a:endParaRPr/>
          </a:p>
        </p:txBody>
      </p:sp>
      <p:sp>
        <p:nvSpPr>
          <p:cNvPr id="188" name="Google Shape;188;p8"/>
          <p:cNvSpPr txBox="1"/>
          <p:nvPr/>
        </p:nvSpPr>
        <p:spPr>
          <a:xfrm>
            <a:off x="8988552" y="1828800"/>
            <a:ext cx="2048256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Quality Gate aprobado, 0 issues y 0,0 % duplicación.</a:t>
            </a: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6080760" y="274320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F28B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 txBox="1"/>
          <p:nvPr/>
        </p:nvSpPr>
        <p:spPr>
          <a:xfrm>
            <a:off x="6245352" y="2852928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28B00"/>
                </a:solidFill>
                <a:latin typeface="Calibri"/>
                <a:ea typeface="Calibri"/>
                <a:cs typeface="Calibri"/>
                <a:sym typeface="Calibri"/>
              </a:rPr>
              <a:t>Azure</a:t>
            </a:r>
            <a:endParaRPr/>
          </a:p>
        </p:txBody>
      </p:sp>
      <p:sp>
        <p:nvSpPr>
          <p:cNvPr id="191" name="Google Shape;191;p8"/>
          <p:cNvSpPr txBox="1"/>
          <p:nvPr/>
        </p:nvSpPr>
        <p:spPr>
          <a:xfrm>
            <a:off x="6245352" y="3246120"/>
            <a:ext cx="2048256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Verificación real de health, creación, listado y métricas.</a:t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8823960" y="274320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695B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8988552" y="2852928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95BD0"/>
                </a:solidFill>
                <a:latin typeface="Calibri"/>
                <a:ea typeface="Calibri"/>
                <a:cs typeface="Calibri"/>
                <a:sym typeface="Calibri"/>
              </a:rPr>
              <a:t>OpenAPI</a:t>
            </a:r>
            <a:endParaRPr/>
          </a:p>
        </p:txBody>
      </p:sp>
      <p:sp>
        <p:nvSpPr>
          <p:cNvPr id="194" name="Google Shape;194;p8"/>
          <p:cNvSpPr txBox="1"/>
          <p:nvPr/>
        </p:nvSpPr>
        <p:spPr>
          <a:xfrm>
            <a:off x="8988552" y="3246120"/>
            <a:ext cx="2048256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Contrato interactivo para revisar endpoints.</a:t>
            </a:r>
            <a:endParaRPr/>
          </a:p>
        </p:txBody>
      </p:sp>
      <p:pic>
        <p:nvPicPr>
          <p:cNvPr descr="documentacion-interactiva-de-API.png" id="195" name="Google Shape;19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26602" y="1252724"/>
            <a:ext cx="3328876" cy="350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95BD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202" name="Google Shape;202;p9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Viabilidad</a:t>
            </a:r>
            <a:endParaRPr/>
          </a:p>
        </p:txBody>
      </p:sp>
      <p:sp>
        <p:nvSpPr>
          <p:cNvPr id="203" name="Google Shape;203;p9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Costes, licencias y protección de datos</a:t>
            </a:r>
            <a:endParaRPr/>
          </a:p>
        </p:txBody>
      </p:sp>
      <p:pic>
        <p:nvPicPr>
          <p:cNvPr descr="grafico_costes_estimados.png" id="204" name="Google Shape;20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445078"/>
            <a:ext cx="5029200" cy="305344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9"/>
          <p:cNvSpPr txBox="1"/>
          <p:nvPr/>
        </p:nvSpPr>
        <p:spPr>
          <a:xfrm>
            <a:off x="5989320" y="1325880"/>
            <a:ext cx="53035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Coste estimado: 300 h de trabajo y costes empresariales asociados.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Cosmos DB Free Tier y Azure for Students reducen el coste cloud del prototipo.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Licencia MIT para el código propio y revisión de licencias de dependencias.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Datos de prueba ficticios; en producción se aplicarían RGPD, roles, retención y auditoría.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212" name="Google Shape;212;p10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/>
          </a:p>
        </p:txBody>
      </p:sp>
      <p:sp>
        <p:nvSpPr>
          <p:cNvPr id="213" name="Google Shape;213;p10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Una solución cloud empresarial completa y defendible</a:t>
            </a:r>
            <a:endParaRPr/>
          </a:p>
        </p:txBody>
      </p:sp>
      <p:sp>
        <p:nvSpPr>
          <p:cNvPr id="214" name="Google Shape;214;p10"/>
          <p:cNvSpPr txBox="1"/>
          <p:nvPr/>
        </p:nvSpPr>
        <p:spPr>
          <a:xfrm>
            <a:off x="822960" y="1325880"/>
            <a:ext cx="54864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El prototipo cubre el flujo completo: solicitud, clasificación, aprobación, SLA, persistencia y métricas.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Azure aporta despliegue real, seguridad de secretos, automatización y observabilidad.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Cosmos DB mejora el diseño de datos respecto al blob único inicial.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La validación combina pruebas automáticas, SonarCloud, Zube, GitHub y evidencias del despliegue.</a:t>
            </a:r>
            <a:endParaRPr/>
          </a:p>
        </p:txBody>
      </p:sp>
      <p:pic>
        <p:nvPicPr>
          <p:cNvPr descr="cartel-a3-final.png" id="215" name="Google Shape;21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66547" y="2201453"/>
            <a:ext cx="5188401" cy="3556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0"/>
          <p:cNvSpPr/>
          <p:nvPr/>
        </p:nvSpPr>
        <p:spPr>
          <a:xfrm>
            <a:off x="868675" y="5440674"/>
            <a:ext cx="5303400" cy="83580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1033271" y="555040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</p:txBody>
      </p:sp>
      <p:sp>
        <p:nvSpPr>
          <p:cNvPr id="218" name="Google Shape;218;p10"/>
          <p:cNvSpPr txBox="1"/>
          <p:nvPr/>
        </p:nvSpPr>
        <p:spPr>
          <a:xfrm>
            <a:off x="1033225" y="5758325"/>
            <a:ext cx="49743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Versión final v1.2.0 · Memoria y anexos generados · Pendiente solo de incorporar las URLs de vídeo al PDF de enlaces.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